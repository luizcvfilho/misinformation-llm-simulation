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0c3374369b43f3" /><Relationship Type="http://schemas.openxmlformats.org/officeDocument/2006/relationships/extended-properties" Target="/docProps/app.xml" Id="Rb93ceee46a4b4d8b" /><Relationship Type="http://schemas.openxmlformats.org/officeDocument/2006/relationships/officeDocument" Target="/ppt/presentation.xml" Id="R6671fdd48c534b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b82971cae24504"/>
  </p:sldMasterIdLst>
  <p:notesMasterIdLst>
    <p:notesMasterId xmlns:r="http://schemas.openxmlformats.org/officeDocument/2006/relationships" r:id="R763b292efe464201"/>
  </p:notesMasterIdLst>
  <p:sldIdLst>
    <p:sldId xmlns:r="http://schemas.openxmlformats.org/officeDocument/2006/relationships" id="256" r:id="R0db4d6e7c9b24979"/>
    <p:sldId xmlns:r="http://schemas.openxmlformats.org/officeDocument/2006/relationships" id="257" r:id="Rea9c337911b446ee"/>
    <p:sldId xmlns:r="http://schemas.openxmlformats.org/officeDocument/2006/relationships" id="258" r:id="Rb6b3499b970a420a"/>
    <p:sldId xmlns:r="http://schemas.openxmlformats.org/officeDocument/2006/relationships" id="259" r:id="R9bba5adf04f54cc3"/>
    <p:sldId xmlns:r="http://schemas.openxmlformats.org/officeDocument/2006/relationships" id="260" r:id="R1e4792ae22684a84"/>
    <p:sldId xmlns:r="http://schemas.openxmlformats.org/officeDocument/2006/relationships" id="261" r:id="R7ac6c0a3f0a74300"/>
    <p:sldId xmlns:r="http://schemas.openxmlformats.org/officeDocument/2006/relationships" id="262" r:id="R819e3cba5cd040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a34d4614ad4424" /><Relationship Type="http://schemas.openxmlformats.org/officeDocument/2006/relationships/slideMaster" Target="/ppt/slideMasters/slideMaster1.xml" Id="R3ab82971cae24504" /><Relationship Type="http://schemas.openxmlformats.org/officeDocument/2006/relationships/notesMaster" Target="/ppt/notesMasters/notesMaster1.xml" Id="R763b292efe464201" /><Relationship Type="http://schemas.openxmlformats.org/officeDocument/2006/relationships/presProps" Target="/ppt/presProps.xml" Id="Rc10550beb6b24b25" /><Relationship Type="http://schemas.openxmlformats.org/officeDocument/2006/relationships/tableStyles" Target="/ppt/tableStyles.xml" Id="Rf6941cb17a244ca7" /><Relationship Type="http://schemas.openxmlformats.org/officeDocument/2006/relationships/slide" Target="/ppt/slides/slide1.xml" Id="R0db4d6e7c9b24979" /><Relationship Type="http://schemas.openxmlformats.org/officeDocument/2006/relationships/slide" Target="/ppt/slides/slide2.xml" Id="Rea9c337911b446ee" /><Relationship Type="http://schemas.openxmlformats.org/officeDocument/2006/relationships/slide" Target="/ppt/slides/slide3.xml" Id="Rb6b3499b970a420a" /><Relationship Type="http://schemas.openxmlformats.org/officeDocument/2006/relationships/slide" Target="/ppt/slides/slide4.xml" Id="R9bba5adf04f54cc3" /><Relationship Type="http://schemas.openxmlformats.org/officeDocument/2006/relationships/slide" Target="/ppt/slides/slide5.xml" Id="R1e4792ae22684a84" /><Relationship Type="http://schemas.openxmlformats.org/officeDocument/2006/relationships/slide" Target="/ppt/slides/slide6.xml" Id="R7ac6c0a3f0a74300" /><Relationship Type="http://schemas.openxmlformats.org/officeDocument/2006/relationships/slide" Target="/ppt/slides/slide7.xml" Id="R819e3cba5cd040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381571ec5e42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991fc251d044c5" /><Relationship Type="http://schemas.openxmlformats.org/officeDocument/2006/relationships/notesMaster" Target="/ppt/notesMasters/notesMaster1.xml" Id="R58d6837a39cd49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35014980204c26" /><Relationship Type="http://schemas.openxmlformats.org/officeDocument/2006/relationships/notesMaster" Target="/ppt/notesMasters/notesMaster1.xml" Id="Re34917add52b47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d294c7b5cb47c2" /><Relationship Type="http://schemas.openxmlformats.org/officeDocument/2006/relationships/notesMaster" Target="/ppt/notesMasters/notesMaster1.xml" Id="Rf13c7bfd9d9748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ee708d8f8a47b5" /><Relationship Type="http://schemas.openxmlformats.org/officeDocument/2006/relationships/notesMaster" Target="/ppt/notesMasters/notesMaster1.xml" Id="R31b762dff2b047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eb74c252174fe3" /><Relationship Type="http://schemas.openxmlformats.org/officeDocument/2006/relationships/notesMaster" Target="/ppt/notesMasters/notesMaster1.xml" Id="R2162b8df98c041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2f319b69bf4bb3" /><Relationship Type="http://schemas.openxmlformats.org/officeDocument/2006/relationships/notesMaster" Target="/ppt/notesMasters/notesMaster1.xml" Id="Rba684924537849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1133e466204b98" /><Relationship Type="http://schemas.openxmlformats.org/officeDocument/2006/relationships/notesMaster" Target="/ppt/notesMasters/notesMaster1.xml" Id="R2dc11e07c41148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Resultados internos do repositório: output/audit/topic_domain_coverage_1000 e output/stdi_logistic_regression.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Abrir contextualizando que esta é uma atualização do experimento, não uma defesa de classificação factual.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output/audit/topic_domain_coverage_1000/domain_audit_summary.json</a:t>
            </a:r>
          </a:p>
          <a:p xmlns:a="http://schemas.openxmlformats.org/drawingml/2006/main">
            <a:r>
              <a:t>- output/stdi_logistic_regression/stdi_logistic_regression_report.md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output/audit/topic_domain_coverage_1000/domain_audit_summary.json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Enfatizar que sucesso técnico não equivale a cobertura equilibrada.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output/audit/topic_domain_coverage_1000/domain_audit_summary.json</a:t>
            </a:r>
          </a:p>
          <a:p xmlns:a="http://schemas.openxmlformats.org/drawingml/2006/main">
            <a:r>
              <a:t>- data/raw/newsdata_news.csv</a:t>
            </a:r>
          </a:p>
          <a:p xmlns:a="http://schemas.openxmlformats.org/drawingml/2006/main">
            <a:r>
              <a:t>- src/misinformation_simulation/topic_drift/extraction.py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Tratar “other” como falta de evidência textual para classificar, não como categoria substantiva.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output/stdi_logistic_regression/stdi_logistic_regression_metrics.json</a:t>
            </a:r>
          </a:p>
          <a:p xmlns:a="http://schemas.openxmlformats.org/drawingml/2006/main">
            <a:r>
              <a:t>- output/stdi_logistic_regression/stdi_logistic_regression_report.md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Não interpretar a classe truthified como verdade factual garantida.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output/stdi_logistic_regression/stdi_regression_feature_importance.csv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importância é calculada sobre o holdout; coeficientes são padronizados e a direção depende da codificação da classe.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output/stdi_logistic_regression/stdi_tfidf_model_comparison.csv</a:t>
            </a:r>
          </a:p>
          <a:p xmlns:a="http://schemas.openxmlformats.org/drawingml/2006/main">
            <a:r>
              <a:t>- output/stdi_logistic_regression/stdi_tfidf_metrics.json</a:t>
            </a:r>
          </a:p>
          <a:p xmlns:a="http://schemas.openxmlformats.org/drawingml/2006/main">
            <a:r>
              <a:t>- output/stdi_logistic_regression/stdi_tfidf_top_ngrams.csv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ganho muito alto é um sinal para testar leakage, origem dos textos e generalização por domínio/modelo.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cb43375ad041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ef1af736914728" /><Relationship Type="http://schemas.openxmlformats.org/officeDocument/2006/relationships/slideLayout" Target="/ppt/slideLayouts/slideLayout1.xml" Id="Ra784c6194b394c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84c6194b394c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595088ba84b17" /><Relationship Type="http://schemas.openxmlformats.org/officeDocument/2006/relationships/notesSlide" Target="/ppt/notesSlides/notesSlide1.xml" Id="R0c68e340eb2240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08bdb90564a0c" /><Relationship Type="http://schemas.openxmlformats.org/officeDocument/2006/relationships/notesSlide" Target="/ppt/notesSlides/notesSlide2.xml" Id="Ra9771fe5c9d643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13a7134fd4835" /><Relationship Type="http://schemas.openxmlformats.org/officeDocument/2006/relationships/notesSlide" Target="/ppt/notesSlides/notesSlide3.xml" Id="R96c7bcaf167a4e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0cd6bb9cc491a" /><Relationship Type="http://schemas.openxmlformats.org/officeDocument/2006/relationships/notesSlide" Target="/ppt/notesSlides/notesSlide4.xml" Id="Ra9b43029826c42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5966ae3bc4e9e" /><Relationship Type="http://schemas.openxmlformats.org/officeDocument/2006/relationships/notesSlide" Target="/ppt/notesSlides/notesSlide5.xml" Id="R837e03ab058149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340ac20844817" /><Relationship Type="http://schemas.openxmlformats.org/officeDocument/2006/relationships/notesSlide" Target="/ppt/notesSlides/notesSlide6.xml" Id="R2bcf43926e7443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e361cb5ca4944" /><Relationship Type="http://schemas.openxmlformats.org/officeDocument/2006/relationships/notesSlide" Target="/ppt/notesSlides/notesSlide7.xml" Id="Ra420067cc70943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0379F-C084-4308-BBC4-A0AD8AF4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EB7FA-551B-474A-9635-330DC6C7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5CD3"/>
                </a:solidFill>
              </a:defRPr>
            </a:pPr>
            <a:r>
              <a:rPr sz="1200" b="1">
                <a:solidFill>
                  <a:srgbClr val="175CD3"/>
                </a:solidFill>
              </a:rPr>
              <a:t>TCC · atualização de análise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65276-CF5E-4A29-9B2D-6F0CDD04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7524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8"/>
                </a:solidFill>
              </a:defRPr>
            </a:pPr>
            <a:r>
              <a:rPr sz="4050" b="1">
                <a:solidFill>
                  <a:srgbClr val="101828"/>
                </a:solidFill>
              </a:rPr>
              <a:t>Cobertura de tópicos, regressão logística e TF-IDF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85AA1-20C2-4447-8BAE-6DCB37F4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75467"/>
                </a:solidFill>
              </a:defRPr>
            </a:pPr>
            <a:r>
              <a:rPr sz="1875">
                <a:solidFill>
                  <a:srgbClr val="475467"/>
                </a:solidFill>
              </a:rPr>
              <a:t>Síntese das mudanças recentes e dos resultados empíricos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29BA3-CF5F-478A-BC57-1EF03EF2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000125"/>
            <a:ext cx="28194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2C685-4B8C-457F-8BCB-672863CA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3811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5CD3"/>
                </a:solidFill>
              </a:defRPr>
            </a:pPr>
            <a:r>
              <a:rPr sz="1350" b="1">
                <a:solidFill>
                  <a:srgbClr val="175CD3"/>
                </a:solidFill>
              </a:rPr>
              <a:t>Pergunta da reunião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E0DE9-AE51-4713-B96F-6CD31246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52625"/>
            <a:ext cx="2047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O conjunto cobre os temas necessários e as métricas distinguem os grupos de referência de forma interpretável?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4FF60-3637-4FB1-B84F-FBB44D5A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467"/>
                </a:solidFill>
              </a:defRPr>
            </a:pPr>
            <a:r>
              <a:rPr sz="1200">
                <a:solidFill>
                  <a:srgbClr val="475467"/>
                </a:solidFill>
              </a:rPr>
              <a:t>Apresentação para orientação de TCC</a:t>
            </a:r>
          </a:p>
        </p:txBody>
      </p:sp>
    </p:spTree>
    <p:extLst>
      <p:ext uri="{BB962C8B-B14F-4D97-AF65-F5344CB8AC3E}">
        <p14:creationId xmlns:p14="http://schemas.microsoft.com/office/powerpoint/2010/main" val="8300505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CB05A5-4041-4C8B-A738-D4AE1063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CD3"/>
                </a:solidFill>
              </a:defRPr>
            </a:pPr>
            <a:r>
              <a:rPr sz="975" b="1">
                <a:solidFill>
                  <a:srgbClr val="175CD3"/>
                </a:solidFill>
              </a:rPr>
              <a:t>OBJETIVO DA REUNIÃO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07C09-AAE8-4FB7-A203-0DE8F543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</a:rPr>
              <a:t>A atualização responde a três frentes da análise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44340-4023-470F-8ED8-7F26B5EA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D28C3-ACA9-451B-86A9-03FB5294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1623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320A9-6A95-436C-A40A-1E4DEDD1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52675"/>
            <a:ext cx="59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5CD3"/>
                </a:solidFill>
              </a:defRPr>
            </a:pPr>
            <a:r>
              <a:rPr sz="3150" b="1">
                <a:solidFill>
                  <a:srgbClr val="175CD3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248FA-1EA3-4EBE-A201-EEC8FE7E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Cobertura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23B56-D1F5-4133-A099-2D91549F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62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467"/>
                </a:solidFill>
              </a:defRPr>
            </a:pPr>
            <a:r>
              <a:rPr sz="1425">
                <a:solidFill>
                  <a:srgbClr val="475467"/>
                </a:solidFill>
              </a:rPr>
              <a:t>Verificar diversidade temática e rastrear categorias residuais.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E7901-FA45-4988-B446-63BD1F84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33600"/>
            <a:ext cx="31623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C8D91-4691-45D7-88C4-018B618F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52675"/>
            <a:ext cx="59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7A48"/>
                </a:solidFill>
              </a:defRPr>
            </a:pPr>
            <a:r>
              <a:rPr sz="3150" b="1">
                <a:solidFill>
                  <a:srgbClr val="027A48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9DA45-553B-4F64-92ED-5943A713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670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Estrutura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CFE83-9F75-4FB7-A561-DD74B464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38550"/>
            <a:ext cx="262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467"/>
                </a:solidFill>
              </a:defRPr>
            </a:pPr>
            <a:r>
              <a:rPr sz="1425">
                <a:solidFill>
                  <a:srgbClr val="475467"/>
                </a:solidFill>
              </a:rPr>
              <a:t>Medir quais atributos STDI separam os grupos de referência.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C5AFD-B3A4-431F-8A1B-874B31A4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33600"/>
            <a:ext cx="31623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10477-7811-40C2-8BF4-BD40ED4E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52675"/>
            <a:ext cx="59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54708"/>
                </a:solidFill>
              </a:defRPr>
            </a:pPr>
            <a:r>
              <a:rPr sz="3150" b="1">
                <a:solidFill>
                  <a:srgbClr val="B54708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7F6591-1D94-4692-B136-F3604163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Léxico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6494D5-575F-405D-A07D-2C0C0F6B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38550"/>
            <a:ext cx="262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467"/>
                </a:solidFill>
              </a:defRPr>
            </a:pPr>
            <a:r>
              <a:rPr sz="1425">
                <a:solidFill>
                  <a:srgbClr val="475467"/>
                </a:solidFill>
              </a:rPr>
              <a:t>Comparar o ganho do TF-IDF com os sinais estruturais.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8A33EC-97AF-44E9-8B34-D1C120D6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Fio condutor: ampliar a evidência sem confundir separação estatística com verificação de verdade.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07D95-EEAC-4526-9A1F-17AB6B94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53A5D0-0AE2-4255-9B77-B19D61A8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467"/>
                </a:solidFill>
              </a:defRPr>
            </a:pPr>
            <a:r>
              <a:rPr sz="825">
                <a:solidFill>
                  <a:srgbClr val="475467"/>
                </a:solidFill>
              </a:rPr>
              <a:t>Escopo: auditoria de domínio, features STDI e ablação TF-IDF.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5AAFE8-9040-4E99-8CC7-8DF1F7C8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467"/>
                </a:solidFill>
              </a:defRPr>
            </a:pPr>
            <a:r>
              <a:rPr sz="900" b="1">
                <a:solidFill>
                  <a:srgbClr val="47546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299828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5C9D0F-F04D-43B7-9487-5AD11793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CD3"/>
                </a:solidFill>
              </a:defRPr>
            </a:pPr>
            <a:r>
              <a:rPr sz="975" b="1">
                <a:solidFill>
                  <a:srgbClr val="175CD3"/>
                </a:solidFill>
              </a:rPr>
              <a:t>COBERTURA DE TÓPICOS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83D25-2D90-4A35-9453-6090D27F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</a:rPr>
              <a:t>A auditoria classificou 1.000 notícias sem falhas de extração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B371E-A09B-427D-8B5F-73634EF5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C56BD-BFFE-4031-8F2D-DC2B0D2A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47001-003D-4CCC-B3A5-AEDB3A9F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5CD3"/>
                </a:solidFill>
              </a:defRPr>
            </a:pPr>
            <a:r>
              <a:rPr sz="3150" b="1">
                <a:solidFill>
                  <a:srgbClr val="175CD3"/>
                </a:solidFill>
              </a:rPr>
              <a:t>1.000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DD3B0-DC8D-48EF-8F78-B5B72A11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notícias analisadas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BFE74-71C6-452B-ABCE-B247B06C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2686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467"/>
                </a:solidFill>
              </a:defRPr>
            </a:pPr>
            <a:r>
              <a:rPr sz="1050">
                <a:solidFill>
                  <a:srgbClr val="475467"/>
                </a:solidFill>
              </a:rPr>
              <a:t>amostra do arquivo newsdata_news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9C90C-49A4-467E-8F13-2AA68984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952625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36F12-10A4-48F5-A2F7-8171104B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1907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7A48"/>
                </a:solidFill>
              </a:defRPr>
            </a:pPr>
            <a:r>
              <a:rPr sz="3150" b="1">
                <a:solidFill>
                  <a:srgbClr val="027A48"/>
                </a:solidFill>
              </a:rPr>
              <a:t>100%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C4C83-D7AA-429E-BD79-43AB56AF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00350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extrações concluídas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BE7D6-4B6E-488B-A15D-AD9C18B4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162300"/>
            <a:ext cx="2686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467"/>
                </a:solidFill>
              </a:defRPr>
            </a:pPr>
            <a:r>
              <a:rPr sz="1050">
                <a:solidFill>
                  <a:srgbClr val="475467"/>
                </a:solidFill>
              </a:rPr>
              <a:t>sem nulos ou erros de extração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0A46D-AA34-4EF1-94CA-871D52F4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52625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FE1134-FA9F-4526-9A0A-D9D1C565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907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54708"/>
                </a:solidFill>
              </a:defRPr>
            </a:pPr>
            <a:r>
              <a:rPr sz="3150" b="1">
                <a:solidFill>
                  <a:srgbClr val="B54708"/>
                </a:solidFill>
              </a:rPr>
              <a:t>3,7%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6A831-4B5E-41C2-907D-81514B52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00350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rótulo residual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FCBC5-2E58-4E13-A462-E7600941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686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467"/>
                </a:solidFill>
              </a:defRPr>
            </a:pPr>
            <a:r>
              <a:rPr sz="1050">
                <a:solidFill>
                  <a:srgbClr val="475467"/>
                </a:solidFill>
              </a:rPr>
              <a:t>37 itens classificados como “other”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687E9B-2F01-4476-9033-AEEA18A6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12 rótulos no esquema: 11 domínios substantivos + “other”.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497932-C07D-4EB7-826D-3B4FBB86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14730F-813C-4591-8FB8-13203B43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467"/>
                </a:solidFill>
              </a:defRPr>
            </a:pPr>
            <a:r>
              <a:rPr sz="825">
                <a:solidFill>
                  <a:srgbClr val="475467"/>
                </a:solidFill>
              </a:rPr>
              <a:t>Fonte: output/audit/topic_domain_coverage_1000/domain_audit_summary.json.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8A1735-65DB-4D2D-B5F0-6C13352C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467"/>
                </a:solidFill>
              </a:defRPr>
            </a:pPr>
            <a:r>
              <a:rPr sz="900" b="1">
                <a:solidFill>
                  <a:srgbClr val="47546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989150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13A4E8-AC6B-426B-BB7B-4F881716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CD3"/>
                </a:solidFill>
              </a:defRPr>
            </a:pPr>
            <a:r>
              <a:rPr sz="975" b="1">
                <a:solidFill>
                  <a:srgbClr val="175CD3"/>
                </a:solidFill>
              </a:rPr>
              <a:t>QUALIDADE DA CLASSIFICAÇÃO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3C688-0A19-47A9-9120-BE5EEE1C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</a:rPr>
              <a:t>“Other” sinaliza falta de conteúdo disponível, não um novo 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E873B-6490-4004-A5FE-90E80590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68239-C9B6-4D2B-87F6-A0B77B2E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90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08028-5E07-46F6-9039-81039203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431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B54708"/>
                </a:solidFill>
              </a:defRPr>
            </a:pPr>
            <a:r>
              <a:rPr sz="3600" b="1">
                <a:solidFill>
                  <a:srgbClr val="B54708"/>
                </a:solidFill>
              </a:rPr>
              <a:t>3,7%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02532-9B0C-422F-8396-4A4DE58D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289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37 notícias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AD3AA-58FC-4B4F-966C-B83D505C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3095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467"/>
                </a:solidFill>
              </a:defRPr>
            </a:pPr>
            <a:r>
              <a:rPr sz="1500">
                <a:solidFill>
                  <a:srgbClr val="475467"/>
                </a:solidFill>
              </a:rPr>
              <a:t>foram marcadas como “other” porque o conteúdo disponível não trazia informação suficiente para classificar o tópico.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BCBB5-4FF3-4394-B7D0-1E82FE2C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09750"/>
            <a:ext cx="6362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9749E-61D3-4160-9118-36E75A01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1145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5CD3"/>
                </a:solidFill>
              </a:defRPr>
            </a:pPr>
            <a:r>
              <a:rPr sz="1875" b="1">
                <a:solidFill>
                  <a:srgbClr val="175CD3"/>
                </a:solidFill>
              </a:rPr>
              <a:t>Texto exibido no campo de conteúdo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293029-96F3-44FA-9AF9-A69AFDD6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7175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ONLY AVAILABLE IN PAID PLANS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767A0-DB34-4672-A7F2-937765B7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971800"/>
            <a:ext cx="538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467"/>
                </a:solidFill>
              </a:defRPr>
            </a:pPr>
            <a:r>
              <a:rPr sz="1275">
                <a:solidFill>
                  <a:srgbClr val="475467"/>
                </a:solidFill>
              </a:rPr>
              <a:t>Sem o texto da notícia, não havia informação suficiente para classificar o tema.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5E75D-97A3-4771-97DC-E5C5A8AF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19500"/>
            <a:ext cx="63627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7E4849-27F0-4C2F-818D-93A2007C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243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27A48"/>
                </a:solidFill>
              </a:defRPr>
            </a:pPr>
            <a:r>
              <a:rPr sz="1875" b="1">
                <a:solidFill>
                  <a:srgbClr val="027A48"/>
                </a:solidFill>
              </a:rPr>
              <a:t>Novo domínio incorporado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3183C-AB43-491E-AE0A-3A5E7DFF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815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Acidentes e emergências  ·  accidents_and_emergencies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A0624-DBB6-493A-8ADE-34C1F3BD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85775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467"/>
                </a:solidFill>
              </a:defRPr>
            </a:pPr>
            <a:r>
              <a:rPr sz="1275">
                <a:solidFill>
                  <a:srgbClr val="475467"/>
                </a:solidFill>
              </a:rPr>
              <a:t>Incluído na taxonomia controlada para evitar que esses casos sejam absorvidos por “other”.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53E2D0-9094-4D3F-A3C3-D2C32075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DF6577-74C6-432F-996F-79A4F266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467"/>
                </a:solidFill>
              </a:defRPr>
            </a:pPr>
            <a:r>
              <a:rPr sz="825">
                <a:solidFill>
                  <a:srgbClr val="475467"/>
                </a:solidFill>
              </a:rPr>
              <a:t>Fonte: domínio controlado em src/misinformation_simulation/topic_drift/extraction.py.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990D5-2957-4927-873C-A2F7E20B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467"/>
                </a:solidFill>
              </a:defRPr>
            </a:pPr>
            <a:r>
              <a:rPr sz="900" b="1">
                <a:solidFill>
                  <a:srgbClr val="47546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684097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044C9-FBB3-4034-AF25-B1CC271C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CD3"/>
                </a:solidFill>
              </a:defRPr>
            </a:pPr>
            <a:r>
              <a:rPr sz="975" b="1">
                <a:solidFill>
                  <a:srgbClr val="175CD3"/>
                </a:solidFill>
              </a:rPr>
              <a:t>REGRESSÃO LOGÍSTICA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61B58-6BD5-40CF-8065-65E9B3EF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</a:rPr>
              <a:t>As features STDI separam bem os grupos de referência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AC497-9634-4398-91A8-1B5B47BD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8096250" cy="1714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19250"/>
                <a:gridCol w="1619250"/>
                <a:gridCol w="1619250"/>
                <a:gridCol w="1619250"/>
                <a:gridCol w="1619250"/>
              </a:tblGrid>
              <a:tr h="571500">
                <a:tc>
                  <a:txBody>
                    <a:bodyPr/>
                    <a:lstStyle/>
                    <a:p>
                      <a:r>
                        <a:t>ROC-AUC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Precisão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Recall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27A48"/>
                          </a:solidFill>
                        </a:rPr>
                        <a:t>0,921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27A48"/>
                          </a:solidFill>
                        </a:rPr>
                        <a:t>0,925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27A48"/>
                          </a:solidFill>
                        </a:rPr>
                        <a:t>0,852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27A48"/>
                          </a:solidFill>
                        </a:rPr>
                        <a:t>0,832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27A48"/>
                          </a:solidFill>
                        </a:rPr>
                        <a:t>0,872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boa separação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boa ordenação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equilíbrio P/R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83,2%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87,2%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F1EB2-899F-488B-A889-1020D72D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33550"/>
            <a:ext cx="2266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C90BB-7245-4686-9A42-F8A1D4FB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097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27A48"/>
                </a:solidFill>
              </a:defRPr>
            </a:pPr>
            <a:r>
              <a:rPr sz="1275" b="1">
                <a:solidFill>
                  <a:srgbClr val="027A48"/>
                </a:solidFill>
              </a:rPr>
              <a:t>Split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3AA23-526B-49DE-BF78-ABB030BA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71725"/>
            <a:ext cx="838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750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C28A9-5EE6-4351-BD27-C3134634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4765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467"/>
                </a:solidFill>
              </a:defRPr>
            </a:pPr>
            <a:r>
              <a:rPr sz="1200">
                <a:solidFill>
                  <a:srgbClr val="475467"/>
                </a:solidFill>
              </a:rPr>
              <a:t>treino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5F2E4-699C-4CE6-9CAB-D4724070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24175"/>
            <a:ext cx="838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250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A2479-40E5-4E3D-B37A-372977DD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971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467"/>
                </a:solidFill>
              </a:defRPr>
            </a:pPr>
            <a:r>
              <a:rPr sz="1200">
                <a:solidFill>
                  <a:srgbClr val="475467"/>
                </a:solidFill>
              </a:rPr>
              <a:t>teste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04C6F-3F64-471F-BAB8-3CE06BF0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Amostra total: 1.000 referências, balanceadas entre classe 0 (notícia falsa original) e classe 1 (reescrita truthified).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710A3-5EFF-4FD8-9581-54984E0F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CBF93-DAC4-4099-A49D-39646E71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467"/>
                </a:solidFill>
              </a:defRPr>
            </a:pPr>
            <a:r>
              <a:rPr sz="825">
                <a:solidFill>
                  <a:srgbClr val="475467"/>
                </a:solidFill>
              </a:rPr>
              <a:t>Fonte: output/stdi_logistic_regression/stdi_logistic_regression_metrics.json.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5C605D-8111-444D-B2DE-2B6BADCE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467"/>
                </a:solidFill>
              </a:defRPr>
            </a:pPr>
            <a:r>
              <a:rPr sz="900" b="1">
                <a:solidFill>
                  <a:srgbClr val="475467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837070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6C06F-91D2-429F-91C1-2A461FCC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CD3"/>
                </a:solidFill>
              </a:defRPr>
            </a:pPr>
            <a:r>
              <a:rPr sz="975" b="1">
                <a:solidFill>
                  <a:srgbClr val="175CD3"/>
                </a:solidFill>
              </a:rPr>
              <a:t>INTERPRETAÇÃO DAS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D6EB7-CDE5-4416-99DE-8191783C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</a:rPr>
              <a:t>A tabela detalha as 10 features avaliadas na regressão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F8548-3086-45E1-B7F6-4691518A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4048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67000"/>
                <a:gridCol w="1809750"/>
                <a:gridCol w="1619250"/>
                <a:gridCol w="1809750"/>
                <a:gridCol w="2914650"/>
              </a:tblGrid>
              <a:tr h="368011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Coef. padron.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Odds ratio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Imp. perm.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IC 95% do coef.</a:t>
                      </a:r>
                    </a:p>
                  </a:txBody>
                  <a:tcPr marL="91440" marR="91440" marT="45720" marB="45720"/>
                </a:tc>
              </a:tr>
              <a:tr h="368011">
                <a:tc>
                  <a:txBody>
                    <a:bodyPr/>
                    <a:lstStyle/>
                    <a:p>
                      <a:r>
                        <a:t>arousal VAD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−2,620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0,073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0,3135</a:t>
                      </a:r>
                    </a:p>
                  </a:txBody>
                  <a:tcPr marL="91440" marR="91440" marT="45720" marB="4572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[−2,948; −2,293]</a:t>
                      </a:r>
                    </a:p>
                  </a:txBody>
                  <a:tcPr marL="91440" marR="91440" marT="45720" marB="45720"/>
                </a:tc>
              </a:tr>
              <a:tr h="368011">
                <a:tc>
                  <a:txBody>
                    <a:bodyPr/>
                    <a:lstStyle/>
                    <a:p>
                      <a:r>
                        <a:t>n.º de palavras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−1,432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0,239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0,1094</a:t>
                      </a:r>
                    </a:p>
                  </a:txBody>
                  <a:tcPr marL="91440" marR="91440" marT="45720" marB="4572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[−1,803; −1,129]</a:t>
                      </a:r>
                    </a:p>
                  </a:txBody>
                  <a:tcPr marL="91440" marR="91440" marT="45720" marB="45720"/>
                </a:tc>
              </a:tr>
              <a:tr h="368011">
                <a:tc>
                  <a:txBody>
                    <a:bodyPr/>
                    <a:lstStyle/>
                    <a:p>
                      <a:r>
                        <a:t>contradição interna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+0,421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1,523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0,0070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[+0,046; +0,773]</a:t>
                      </a:r>
                    </a:p>
                  </a:txBody>
                  <a:tcPr marL="91440" marR="91440" marT="45720" marB="45720"/>
                </a:tc>
              </a:tr>
              <a:tr h="368011">
                <a:tc>
                  <a:txBody>
                    <a:bodyPr/>
                    <a:lstStyle/>
                    <a:p>
                      <a:r>
                        <a:t>n.º de entidades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−0,158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0,854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0,0051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[−0,389; +0,038]</a:t>
                      </a:r>
                    </a:p>
                  </a:txBody>
                  <a:tcPr marL="91440" marR="91440" marT="45720" marB="45720"/>
                </a:tc>
              </a:tr>
              <a:tr h="368011">
                <a:tc>
                  <a:txBody>
                    <a:bodyPr/>
                    <a:lstStyle/>
                    <a:p>
                      <a:r>
                        <a:t>n.º de relações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+0,402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1,495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0,0019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[+0,181; +0,717]</a:t>
                      </a:r>
                    </a:p>
                  </a:txBody>
                  <a:tcPr marL="91440" marR="91440" marT="45720" marB="45720"/>
                </a:tc>
              </a:tr>
              <a:tr h="368011">
                <a:tc>
                  <a:txBody>
                    <a:bodyPr/>
                    <a:lstStyle/>
                    <a:p>
                      <a:r>
                        <a:t>n.º de subtópicos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+0,392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1,480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0,0014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[+0,132; +0,630]</a:t>
                      </a:r>
                    </a:p>
                  </a:txBody>
                  <a:tcPr marL="91440" marR="91440" marT="45720" marB="45720"/>
                </a:tc>
              </a:tr>
              <a:tr h="368011">
                <a:tc>
                  <a:txBody>
                    <a:bodyPr/>
                    <a:lstStyle/>
                    <a:p>
                      <a:r>
                        <a:t>valência VAD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−0,237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0,789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0,0013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[−0,446; +0,080]</a:t>
                      </a:r>
                    </a:p>
                  </a:txBody>
                  <a:tcPr marL="91440" marR="91440" marT="45720" marB="45720"/>
                </a:tc>
              </a:tr>
              <a:tr h="368011">
                <a:tc>
                  <a:txBody>
                    <a:bodyPr/>
                    <a:lstStyle/>
                    <a:p>
                      <a:r>
                        <a:t>score de contradição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−0,161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0,851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0,0004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[−0,549; +0,286]</a:t>
                      </a:r>
                    </a:p>
                  </a:txBody>
                  <a:tcPr marL="91440" marR="91440" marT="45720" marB="45720"/>
                </a:tc>
              </a:tr>
              <a:tr h="368011">
                <a:tc>
                  <a:txBody>
                    <a:bodyPr/>
                    <a:lstStyle/>
                    <a:p>
                      <a:r>
                        <a:t>tópico principal presente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0,0000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[0,000; 0,000]</a:t>
                      </a:r>
                    </a:p>
                  </a:txBody>
                  <a:tcPr marL="91440" marR="91440" marT="45720" marB="45720"/>
                </a:tc>
              </a:tr>
              <a:tr h="368011">
                <a:tc>
                  <a:txBody>
                    <a:bodyPr/>
                    <a:lstStyle/>
                    <a:p>
                      <a:r>
                        <a:t>dominância VAD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+0,170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1,185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−0,0006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[−0,052; +0,413]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90447-FD98-407F-A094-68BEEAB2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467"/>
                </a:solidFill>
              </a:defRPr>
            </a:pPr>
            <a:r>
              <a:rPr sz="1200">
                <a:solidFill>
                  <a:srgbClr val="475467"/>
                </a:solidFill>
              </a:rPr>
              <a:t>Importância por permutação = queda média do ROC-AUC ao embaralhar a feature. Coeficientes em relação à classe 1 (truthified).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19F74-B6D1-4C3E-A1D5-450C05A0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04203-EAF5-4CD8-A96C-9679E2E5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467"/>
                </a:solidFill>
              </a:defRPr>
            </a:pPr>
            <a:r>
              <a:rPr sz="825">
                <a:solidFill>
                  <a:srgbClr val="475467"/>
                </a:solidFill>
              </a:rPr>
              <a:t>Fonte: output/stdi_logistic_regression/stdi_regression_feature_importance.csv.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E97BC-40C9-415B-ACDA-FC37A79A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467"/>
                </a:solidFill>
              </a:defRPr>
            </a:pPr>
            <a:r>
              <a:rPr sz="900" b="1">
                <a:solidFill>
                  <a:srgbClr val="475467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940022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F36373-E9D3-476D-9210-15A45CEF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CD3"/>
                </a:solidFill>
              </a:defRPr>
            </a:pPr>
            <a:r>
              <a:rPr sz="975" b="1">
                <a:solidFill>
                  <a:srgbClr val="175CD3"/>
                </a:solidFill>
              </a:rPr>
              <a:t>ABLATION TF-IDF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AAEE1-EA03-4072-A5B3-7BC03CC1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</a:rPr>
              <a:t>O TF-IDF aumenta a separação, mas exige validação contra atalhos lexicais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A4B25-0C76-408B-A3AB-B22ED4B5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7572375" cy="2143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14500"/>
                <a:gridCol w="2571750"/>
                <a:gridCol w="1619250"/>
                <a:gridCol w="1666875"/>
              </a:tblGrid>
              <a:tr h="535781">
                <a:tc>
                  <a:txBody>
                    <a:bodyPr/>
                    <a:lstStyle/>
                    <a:p>
                      <a:r>
                        <a:t>Modelo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Features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ROC-AUC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F1</a:t>
                      </a:r>
                    </a:p>
                  </a:txBody>
                  <a:tcPr marL="91440" marR="91440" marT="45720" marB="45720"/>
                </a:tc>
              </a:tr>
              <a:tr h="535781">
                <a:tc>
                  <a:txBody>
                    <a:bodyPr/>
                    <a:lstStyle/>
                    <a:p>
                      <a:r>
                        <a:t>STDI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estruturais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0,921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0,852</a:t>
                      </a:r>
                    </a:p>
                  </a:txBody>
                  <a:tcPr marL="91440" marR="91440" marT="45720" marB="45720"/>
                </a:tc>
              </a:tr>
              <a:tr h="535781">
                <a:tc>
                  <a:txBody>
                    <a:bodyPr/>
                    <a:lstStyle/>
                    <a:p>
                      <a:r>
                        <a:t>TF-IDF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uni/bigramas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</a:t>
                      </a:r>
                    </a:p>
                  </a:txBody>
                  <a:tcPr marL="91440" marR="91440" marT="45720" marB="45720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0,992</a:t>
                      </a:r>
                    </a:p>
                  </a:txBody>
                  <a:tcPr marL="91440" marR="91440" marT="45720" marB="45720">
                    <a:solidFill>
                      <a:srgbClr val="ECFDF3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t>STDI + TF-IDF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ambos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0,925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62121-2735-40D1-9B52-45740740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38300"/>
            <a:ext cx="2743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73E31-515B-4F72-80B1-622224F9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24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5CD3"/>
                </a:solidFill>
              </a:defRPr>
            </a:pPr>
            <a:r>
              <a:rPr sz="1500" b="1">
                <a:solidFill>
                  <a:srgbClr val="175CD3"/>
                </a:solidFill>
              </a:rPr>
              <a:t>Configuração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D4649-A715-4F8D-9C18-1C3C848E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52675"/>
            <a:ext cx="2095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• n-gramas 1–2</a:t>
            </a:r>
          </a:p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• min_df = 5</a:t>
            </a:r>
          </a:p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• máximo = 10.000</a:t>
            </a:r>
          </a:p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• mesmo holdout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FCA34-5EE4-4EE2-A3F2-131BF2DB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5048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652AA-2718-49E4-B62A-270AF0CA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191000"/>
            <a:ext cx="54578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5BE22-460C-4CDD-981D-CD05D3B6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7A48"/>
                </a:solidFill>
              </a:defRPr>
            </a:pPr>
            <a:r>
              <a:rPr sz="1350" b="1">
                <a:solidFill>
                  <a:srgbClr val="027A48"/>
                </a:solidFill>
              </a:rPr>
              <a:t>N-gramas com coeficiente positivo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2428F-3610-4C77-9C47-64374BF5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1828"/>
                </a:solidFill>
              </a:defRPr>
            </a:pPr>
            <a:r>
              <a:rPr sz="1425">
                <a:solidFill>
                  <a:srgbClr val="101828"/>
                </a:solidFill>
              </a:rPr>
              <a:t>criticism · criticized · 2017 · had · did not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C7139-D2FE-4A47-B48A-CCC65B34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400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N-gramas com coeficiente negativo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57D1D9-08EB-420F-AD26-4D94B2A3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8291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1828"/>
                </a:solidFill>
              </a:defRPr>
            </a:pPr>
            <a:r>
              <a:rPr sz="1425">
                <a:solidFill>
                  <a:srgbClr val="101828"/>
                </a:solidFill>
              </a:rPr>
              <a:t>is · this · just · via · even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A5D53-14DA-43FE-A33E-4143F7F6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467"/>
                </a:solidFill>
              </a:defRPr>
            </a:pPr>
            <a:r>
              <a:rPr sz="1200">
                <a:solidFill>
                  <a:srgbClr val="475467"/>
                </a:solidFill>
              </a:rPr>
              <a:t>Os n-gramas são associações com a classe de referência, não indicadores de veracidade isolados.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05BCAB-0125-42D6-B1B6-77BE045E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4CE781-EC69-4A19-ACD8-09F5FCDB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467"/>
                </a:solidFill>
              </a:defRPr>
            </a:pPr>
            <a:r>
              <a:rPr sz="825">
                <a:solidFill>
                  <a:srgbClr val="475467"/>
                </a:solidFill>
              </a:rPr>
              <a:t>Fonte: stdi_tfidf_model_comparison.csv, stdi_tfidf_metrics.json e stdi_tfidf_top_ngrams.csv.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E1BE0-8DA5-4AC8-9B78-FB009F7A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467"/>
                </a:solidFill>
              </a:defRPr>
            </a:pPr>
            <a:r>
              <a:rPr sz="900" b="1">
                <a:solidFill>
                  <a:srgbClr val="47546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262071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2026-09-04T01:06:38.8560000Z</dcterms:created>
  <dcterms:modified xsi:type="dcterms:W3CDTF">2026-09-04T01:06:38.8560000Z</dcterms:modified>
</coreProperties>
</file>