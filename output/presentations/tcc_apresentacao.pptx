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5" r:id="rId24"/>
    <p:sldId id="28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5329F-2ACA-40BB-A92A-28673138C77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8A621-2F97-4FE7-A52E-33AAEBC4AC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95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quatro posições pertence ao desenho dos cenários finais, não ao número total de reescritas do estudo. Na primeira posição, o texto de entrada é o original. Depois, a saída de um agente passa a ser a entrada do seguinte. O prompt autoriza mudanças de perspectiva, mas proíbe a invenção explícita de fatos.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STDI não compara diretamente dois textos longos. O LLM transforma cada texto em uma estrutura curta e padronizada. Tema, subtópicos, entidades e relações alimentam a deriva de conteúdo; contradição interna entra como incremento. O domínio é temático, não de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doze categorias são os valores literais aceitos pelo campo topic_domain. A organização em três colunas é apenas visual: o código usa um vocabulário plano. Other se aplica quando nenhuma categoria nomeada serve; null somente quando o domínio não pode ser determinado. Ressalte que domínio temático não é domínio de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Jaccard foi aplicado depois da extração estruturada e dependia de igualdade lexical. A versão vigente preserva os componentes, mas compara semanticamente as frases extraídas. Quando os domínios conhecidos divergem, a similaridade de tema é zerada.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pto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pto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pto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pto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pto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85800"/>
            <a:ext cx="109728" cy="5358384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51560" y="749808"/>
            <a:ext cx="9875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0F3F2"/>
                </a:solidFill>
                <a:latin typeface="Aptos"/>
              </a:defRPr>
            </a:pPr>
            <a:r>
              <a:rPr dirty="0"/>
              <a:t>UFRJ  •  INSTITUTO DE COMPUTAÇÃO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99032"/>
            <a:ext cx="10332720" cy="19202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Deriva</a:t>
            </a:r>
            <a:r>
              <a:rPr dirty="0"/>
              <a:t> </a:t>
            </a:r>
            <a:r>
              <a:rPr dirty="0" err="1"/>
              <a:t>informacional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cadeias</a:t>
            </a:r>
            <a:r>
              <a:rPr dirty="0"/>
              <a:t>
de </a:t>
            </a:r>
            <a:r>
              <a:rPr dirty="0" err="1"/>
              <a:t>reescrita</a:t>
            </a:r>
            <a:r>
              <a:rPr dirty="0"/>
              <a:t> de </a:t>
            </a:r>
            <a:r>
              <a:rPr dirty="0" err="1"/>
              <a:t>notícias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
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baseados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694176"/>
            <a:ext cx="9875520" cy="8412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Um índice estruturado para analisar transformações de notícias por LLMs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5074920"/>
            <a:ext cx="10012680" cy="18288"/>
          </a:xfrm>
          <a:prstGeom prst="rect">
            <a:avLst/>
          </a:prstGeom>
          <a:solidFill>
            <a:srgbClr val="5B7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5303520"/>
            <a:ext cx="9784080" cy="4023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0F3F2"/>
                </a:solidFill>
                <a:latin typeface="Aptos"/>
              </a:defRPr>
            </a:pPr>
            <a:r>
              <a:t>Trabalho de Conclusão de Curso • 2026 • Defesa: A PREENCHER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5715000"/>
            <a:ext cx="9784080" cy="558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0F3F2"/>
                </a:solidFill>
                <a:latin typeface="Aptos"/>
              </a:defRPr>
            </a:pPr>
            <a:r>
              <a:rPr lang="pt-BR" sz="1400" smtClean="0">
                <a:latin typeface="Aptos" panose="020B0604020202020204" pitchFamily="34" charset="0"/>
              </a:rPr>
              <a:t>Luiz Cláudio Vieira Filho
Orientador: Paulo Mann · Coorientador: Fabricio Goes · Banca: A PREENCHER</a:t>
            </a:r>
            <a:endParaRPr sz="1400"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Roteiro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65376"/>
            <a:ext cx="204825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" y="2103120"/>
            <a:ext cx="493776" cy="493776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231136"/>
            <a:ext cx="493776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62072"/>
            <a:ext cx="1682496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sz="1700" dirty="0" err="1"/>
              <a:t>Problema</a:t>
            </a:r>
            <a:endParaRPr sz="1700" dirty="0"/>
          </a:p>
        </p:txBody>
      </p:sp>
      <p:sp>
        <p:nvSpPr>
          <p:cNvPr id="12" name="TextBox 11"/>
          <p:cNvSpPr txBox="1"/>
          <p:nvPr/>
        </p:nvSpPr>
        <p:spPr>
          <a:xfrm>
            <a:off x="850392" y="3575304"/>
            <a:ext cx="1682496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motivação</a:t>
            </a:r>
            <a:r>
              <a:rPr dirty="0"/>
              <a:t>, </a:t>
            </a:r>
            <a:r>
              <a:rPr dirty="0" err="1"/>
              <a:t>pergunta</a:t>
            </a:r>
            <a:r>
              <a:rPr dirty="0"/>
              <a:t> e </a:t>
            </a:r>
            <a:r>
              <a:rPr dirty="0" err="1"/>
              <a:t>objetivos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971800" y="1865376"/>
            <a:ext cx="204825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54680" y="2103120"/>
            <a:ext cx="493776" cy="493776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235708"/>
            <a:ext cx="493776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575304"/>
            <a:ext cx="1682496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auditorias</a:t>
            </a:r>
            <a:r>
              <a:rPr dirty="0"/>
              <a:t>, </a:t>
            </a:r>
            <a:r>
              <a:rPr dirty="0" err="1"/>
              <a:t>literatura</a:t>
            </a:r>
            <a:r>
              <a:rPr dirty="0"/>
              <a:t> e STDI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6088" y="1865376"/>
            <a:ext cx="204825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58968" y="2103120"/>
            <a:ext cx="493776" cy="493776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8968" y="2235708"/>
            <a:ext cx="493776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2862072"/>
            <a:ext cx="1682496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sz="1700" dirty="0" err="1"/>
              <a:t>Método</a:t>
            </a:r>
            <a:endParaRPr sz="1700" dirty="0"/>
          </a:p>
        </p:txBody>
      </p:sp>
      <p:sp>
        <p:nvSpPr>
          <p:cNvPr id="22" name="TextBox 21"/>
          <p:cNvSpPr txBox="1"/>
          <p:nvPr/>
        </p:nvSpPr>
        <p:spPr>
          <a:xfrm>
            <a:off x="5458968" y="3575304"/>
            <a:ext cx="1682496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corpus, atributos e cadeias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1865376"/>
            <a:ext cx="204825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63256" y="2103120"/>
            <a:ext cx="493776" cy="493776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63256" y="2235708"/>
            <a:ext cx="493776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862072"/>
            <a:ext cx="1682496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sz="1700" dirty="0" err="1"/>
              <a:t>Resultados</a:t>
            </a:r>
            <a:endParaRPr sz="1700" dirty="0"/>
          </a:p>
        </p:txBody>
      </p:sp>
      <p:sp>
        <p:nvSpPr>
          <p:cNvPr id="27" name="TextBox 26"/>
          <p:cNvSpPr txBox="1"/>
          <p:nvPr/>
        </p:nvSpPr>
        <p:spPr>
          <a:xfrm>
            <a:off x="7763256" y="3575304"/>
            <a:ext cx="1682496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cenários, domínios e exemplo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84664" y="1865376"/>
            <a:ext cx="204825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67544" y="2103120"/>
            <a:ext cx="493776" cy="493776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67544" y="2235708"/>
            <a:ext cx="493776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7544" y="2862072"/>
            <a:ext cx="1682496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sz="1700" dirty="0" err="1"/>
              <a:t>Conclusão</a:t>
            </a:r>
            <a:endParaRPr sz="1700" dirty="0"/>
          </a:p>
        </p:txBody>
      </p:sp>
      <p:sp>
        <p:nvSpPr>
          <p:cNvPr id="32" name="TextBox 31"/>
          <p:cNvSpPr txBox="1"/>
          <p:nvPr/>
        </p:nvSpPr>
        <p:spPr>
          <a:xfrm>
            <a:off x="10067544" y="3575304"/>
            <a:ext cx="1682496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limitações e contribuições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660136"/>
            <a:ext cx="10671048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77F"/>
                </a:solidFill>
                <a:latin typeface="Aptos"/>
              </a:defRPr>
            </a:pPr>
            <a:r>
              <a:t>Duração planejada: 25–30 minutos, deixando a arguição para a banca.</a:t>
            </a:r>
          </a:p>
        </p:txBody>
      </p:sp>
      <p:sp>
        <p:nvSpPr>
          <p:cNvPr id="34" name="TextBox 10"/>
          <p:cNvSpPr txBox="1"/>
          <p:nvPr/>
        </p:nvSpPr>
        <p:spPr>
          <a:xfrm>
            <a:off x="3154680" y="2848356"/>
            <a:ext cx="1745794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lang="pt-BR" sz="1700" b="1" dirty="0">
                <a:solidFill>
                  <a:srgbClr val="132235"/>
                </a:solidFill>
              </a:rPr>
              <a:t>Fundamentação</a:t>
            </a:r>
            <a:endParaRPr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CONTEXTO E 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Reescritas sucessivas podem alterar a notícia sem inventar um fato explícito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37943"/>
            <a:ext cx="3218688" cy="1536192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84831"/>
            <a:ext cx="27889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rPr dirty="0" err="1"/>
              <a:t>Notícia</a:t>
            </a:r>
            <a:r>
              <a:rPr dirty="0"/>
              <a:t>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43200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fatos, atores e relações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432304"/>
            <a:ext cx="28346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837943"/>
            <a:ext cx="3218688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2084831"/>
            <a:ext cx="27889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Reescrita por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743200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nova perspectiva e novo foco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6" y="2432304"/>
            <a:ext cx="28346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1837943"/>
            <a:ext cx="3218688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86216" y="2084831"/>
            <a:ext cx="27889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Versão seguinte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6" y="2743200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mudanças podem se acumular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" y="3867912"/>
            <a:ext cx="6803136" cy="1618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" y="3867912"/>
            <a:ext cx="73152" cy="161848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069080"/>
            <a:ext cx="6391656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Motivação científica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672584"/>
            <a:ext cx="6327648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C2C3F"/>
                </a:solidFill>
                <a:latin typeface="Aptos"/>
              </a:defRPr>
            </a:pPr>
            <a:r>
              <a:t>Uma decisão falsa/verdadeira não mostra qual dimensão mudou nem como a transformação evoluiu ao longo da cadeia.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63256" y="3867912"/>
            <a:ext cx="3685032" cy="161848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82712" y="4032504"/>
            <a:ext cx="32461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Base da motivação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4389120"/>
            <a:ext cx="324612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Evolução do conteúdo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4736592"/>
            <a:ext cx="3227832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sz="1050"/>
              <a:t>Mutações na circulação e distorção iterativa.
Zhang et al. (2013); Guo et al. (2021); Mohamed et al. (2025); Liu et al. (2025).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Pergunta de pesquisa e recorte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92224"/>
            <a:ext cx="10808208" cy="1371600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011680"/>
            <a:ext cx="10149840" cy="932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32235"/>
                </a:solidFill>
                <a:latin typeface="Aptos"/>
              </a:defRPr>
            </a:pPr>
            <a:r>
              <a:t>Em que medida a ordem e o tipo de perspectiva atribuída a agentes LLM alteram o conteúdo e o enquadramento emocional de uma notícia ao longo de uma cadeia de reescritas?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465576"/>
            <a:ext cx="5193792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944" y="3465576"/>
            <a:ext cx="73152" cy="205740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3666744"/>
            <a:ext cx="478231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Unidade de análise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270248"/>
            <a:ext cx="4718304" cy="11247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C2C3F"/>
                </a:solidFill>
                <a:latin typeface="Aptos"/>
              </a:defRPr>
            </a:pPr>
            <a:r>
              <a:t>Notícias e suas versões reescritas, em testes isolados e em cadeias com diferentes perspectivas.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65576"/>
            <a:ext cx="5349240" cy="205740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3465576"/>
            <a:ext cx="73152" cy="2057400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666744"/>
            <a:ext cx="4937759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Limite do estudo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70248"/>
            <a:ext cx="4873752" cy="11247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C2C3F"/>
                </a:solidFill>
                <a:latin typeface="Aptos"/>
              </a:defRPr>
            </a:pPr>
            <a:r>
              <a:t>O índice mede mudança textual. Não verifica fatos externos nem comportamento de leitores.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DELIMITAÇÃO DA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Objetivos e hipóteses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0784"/>
            <a:ext cx="5193792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00784"/>
            <a:ext cx="73152" cy="3529584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478231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Objetivo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05456"/>
            <a:ext cx="4718304" cy="2596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C2C3F"/>
                </a:solidFill>
                <a:latin typeface="Aptos"/>
              </a:defRPr>
            </a:pPr>
            <a:r>
              <a:t>Desenvolver e avaliar um procedimento estruturado para medir a deriva informacional e afetiva em cadeias controladas de reescrita de notícias por agentes baseados em LLMs.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700784"/>
            <a:ext cx="5312664" cy="352958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865376"/>
            <a:ext cx="4873752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Perguntas analíticas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221992"/>
            <a:ext cx="487375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O que será comparado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770632"/>
            <a:ext cx="4855464" cy="22951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• O tipo e a ordem das perspectivas estão associados à deriva?
• Quais componentes do STDI e do VAD mudam nas cadeias?
• Como o domínio temático se relaciona com a deriva?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623560"/>
            <a:ext cx="10671048" cy="4663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77F"/>
                </a:solidFill>
                <a:latin typeface="Aptos"/>
              </a:defRPr>
            </a:pPr>
            <a:r>
              <a:t>Objetivos específicos: caracterizar o limite das auditorias binárias; definir o STDI; analisar VAD; comparar sequências e domínios.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rPr dirty="0"/>
              <a:t>TRAJETÓRIA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dirty="0"/>
              <a:t>O BERT </a:t>
            </a:r>
            <a:r>
              <a:rPr dirty="0" err="1"/>
              <a:t>transformava</a:t>
            </a:r>
            <a:r>
              <a:rPr dirty="0"/>
              <a:t> o par de </a:t>
            </a:r>
            <a:r>
              <a:rPr dirty="0" err="1"/>
              <a:t>textos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decisão</a:t>
            </a:r>
            <a:r>
              <a:rPr dirty="0"/>
              <a:t> </a:t>
            </a:r>
            <a:r>
              <a:rPr dirty="0" err="1"/>
              <a:t>binária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10241280" cy="356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Primeiro teste: o detector pré-treinado recebia apenas a reescrita e retornava falsa ou verdadeira.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14600"/>
            <a:ext cx="2240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514600"/>
            <a:ext cx="73152" cy="225856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715768"/>
            <a:ext cx="1828800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rPr sz="1700" dirty="0"/>
              <a:t>1  Par de 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319272"/>
            <a:ext cx="1764792" cy="1325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/>
              <a:t>Original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premissa</a:t>
            </a:r>
            <a:endParaRPr dirty="0"/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/>
              <a:t>+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Reescrita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hipótese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99232" y="3392424"/>
            <a:ext cx="256032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514600"/>
            <a:ext cx="2240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54680" y="2514600"/>
            <a:ext cx="73152" cy="225856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715768"/>
            <a:ext cx="1828800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rPr sz="1700" dirty="0" smtClean="0"/>
              <a:t>2  </a:t>
            </a:r>
            <a:r>
              <a:rPr sz="1700" dirty="0" err="1" smtClean="0"/>
              <a:t>Modelo</a:t>
            </a:r>
            <a:r>
              <a:rPr sz="1700" dirty="0" smtClean="0"/>
              <a:t> NLI</a:t>
            </a:r>
            <a:endParaRPr sz="1700" dirty="0"/>
          </a:p>
        </p:txBody>
      </p:sp>
      <p:sp>
        <p:nvSpPr>
          <p:cNvPr id="18" name="TextBox 17"/>
          <p:cNvSpPr txBox="1"/>
          <p:nvPr/>
        </p:nvSpPr>
        <p:spPr>
          <a:xfrm>
            <a:off x="3383280" y="3319272"/>
            <a:ext cx="1764792" cy="1325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/>
              <a:t>Tokenizer + </a:t>
            </a:r>
            <a:r>
              <a:rPr dirty="0" err="1"/>
              <a:t>mDeBERTa</a:t>
            </a:r>
            <a:endParaRPr dirty="0"/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Máximo</a:t>
            </a:r>
            <a:r>
              <a:rPr dirty="0"/>
              <a:t> de 512 tokens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/>
              <a:t>com </a:t>
            </a:r>
            <a:r>
              <a:rPr dirty="0" err="1"/>
              <a:t>truncamento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440680" y="3392424"/>
            <a:ext cx="256032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2514600"/>
            <a:ext cx="2240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96128" y="2514600"/>
            <a:ext cx="73152" cy="225856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24727" y="2715768"/>
            <a:ext cx="1898845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rPr sz="1700" dirty="0"/>
              <a:t>3  </a:t>
            </a:r>
            <a:r>
              <a:rPr sz="1700" dirty="0" err="1"/>
              <a:t>Probabilidades</a:t>
            </a:r>
            <a:endParaRPr sz="1700" dirty="0"/>
          </a:p>
        </p:txBody>
      </p:sp>
      <p:sp>
        <p:nvSpPr>
          <p:cNvPr id="23" name="TextBox 22"/>
          <p:cNvSpPr txBox="1"/>
          <p:nvPr/>
        </p:nvSpPr>
        <p:spPr>
          <a:xfrm>
            <a:off x="5824728" y="3319272"/>
            <a:ext cx="1764792" cy="8648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Suporte</a:t>
            </a:r>
            <a:endParaRPr dirty="0"/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Neutralidade</a:t>
            </a:r>
            <a:endParaRPr dirty="0"/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Contradição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882128" y="3392424"/>
            <a:ext cx="256032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2514600"/>
            <a:ext cx="2999232" cy="225856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7575" y="2514600"/>
            <a:ext cx="73152" cy="2258568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6175" y="2715768"/>
            <a:ext cx="2587751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rPr sz="1700" dirty="0"/>
              <a:t>4  </a:t>
            </a:r>
            <a:r>
              <a:rPr sz="1700" dirty="0" err="1"/>
              <a:t>Regra</a:t>
            </a:r>
            <a:r>
              <a:rPr sz="1700" dirty="0"/>
              <a:t> </a:t>
            </a:r>
            <a:r>
              <a:rPr sz="1700" dirty="0" err="1"/>
              <a:t>binária</a:t>
            </a:r>
            <a:endParaRPr sz="1700" dirty="0"/>
          </a:p>
        </p:txBody>
      </p:sp>
      <p:sp>
        <p:nvSpPr>
          <p:cNvPr id="28" name="TextBox 27"/>
          <p:cNvSpPr txBox="1"/>
          <p:nvPr/>
        </p:nvSpPr>
        <p:spPr>
          <a:xfrm>
            <a:off x="8266175" y="3319272"/>
            <a:ext cx="2523744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Contradição</a:t>
            </a:r>
            <a:r>
              <a:rPr dirty="0"/>
              <a:t> ≥ 0,60 e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dirty="0" err="1"/>
              <a:t>contradição</a:t>
            </a:r>
            <a:r>
              <a:rPr dirty="0"/>
              <a:t> − </a:t>
            </a:r>
            <a:r>
              <a:rPr dirty="0" err="1"/>
              <a:t>suporte</a:t>
            </a:r>
            <a:r>
              <a:rPr dirty="0"/>
              <a:t> ≥ 0,20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093208"/>
            <a:ext cx="10671048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5294376"/>
            <a:ext cx="1019556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C2C3F"/>
                </a:solidFill>
                <a:latin typeface="Aptos"/>
              </a:defRPr>
            </a:pPr>
            <a:r>
              <a:t>Se a regra fosse satisfeita: potencialmente falsa após a reescrita. Caso contrário: consistente com o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rPr dirty="0"/>
              <a:t>LIMITE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Textos longos tornam a comparação global difícil de interpretar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9928"/>
            <a:ext cx="5239512" cy="2267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09928"/>
            <a:ext cx="73152" cy="226771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11096"/>
            <a:ext cx="482803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O que o NLI entregava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14600"/>
            <a:ext cx="4764024" cy="1335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Uma distribuição global para o par inteiro e, ao final, um rótulo binário. Entradas acima de 512 tokens eram truncadas.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09928"/>
            <a:ext cx="5257800" cy="2267712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709928"/>
            <a:ext cx="73152" cy="2267712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11096"/>
            <a:ext cx="48463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O que precisávamos observar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14600"/>
            <a:ext cx="4782312" cy="1335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Onde ocorreu a mudança: assunto, aspectos secundários, atores, relações, consistência interna e tom afetivo.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Subtópicos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Entidades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Relações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Contradição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325112"/>
            <a:ext cx="1581912" cy="65836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4489704"/>
            <a:ext cx="1389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32235"/>
                </a:solidFill>
                <a:latin typeface="Aptos"/>
              </a:defRPr>
            </a:pPr>
            <a:r>
              <a:t>VAD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248656"/>
            <a:ext cx="10652760" cy="74980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5486400"/>
            <a:ext cx="10415016" cy="2800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rPr dirty="0" err="1"/>
              <a:t>Essa</a:t>
            </a:r>
            <a:r>
              <a:rPr dirty="0"/>
              <a:t> lacuna motivou o STDI: decompor a transformação antes de calcular uma pontuação agregada.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rPr dirty="0"/>
              <a:t>FUNDAMENTAÇÃO E TRABALHOS RELACIONADOS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dirty="0"/>
              <a:t>O trabalho articula quatro linhas de pesquisa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9928"/>
            <a:ext cx="5321808" cy="179222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4882896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rPr dirty="0"/>
              <a:t>Enquadramento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31136"/>
            <a:ext cx="4882896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dirty="0" err="1"/>
              <a:t>Desinformação</a:t>
            </a:r>
            <a:r>
              <a:rPr dirty="0"/>
              <a:t> e </a:t>
            </a:r>
            <a:r>
              <a:rPr dirty="0" err="1"/>
              <a:t>enquadramento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2734056"/>
            <a:ext cx="4864608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sz="1100"/>
              <a:t>Seleção, saliência e enquadramento moldam a leitura.
(Entman, 1993; Lazer et al., 2018)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709928"/>
            <a:ext cx="5321808" cy="179222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874520"/>
            <a:ext cx="4882896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Representação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31136"/>
            <a:ext cx="4882896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NLI e similaridade semântica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734056"/>
            <a:ext cx="4864608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sz="1100"/>
              <a:t>NLI é global; embeddings apoiam a comparação semântica.
(Reimers &amp; Gurevych, 2019; Su et al.,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76472"/>
            <a:ext cx="5321808" cy="179222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941063"/>
            <a:ext cx="4882896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Dimensão afetiva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97680"/>
            <a:ext cx="4882896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VAD e linguagem afetiva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4864608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sz="1100"/>
              <a:t>Valência, arousal e dominância descrevem emoção no texto.
(Buechel &amp; Hahn, 2017; Mohammad, 2018)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3776472"/>
            <a:ext cx="5321808" cy="179222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941063"/>
            <a:ext cx="4882896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Cadeias de agentes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297680"/>
            <a:ext cx="4882896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LLMs e cadeias de agentes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800600"/>
            <a:ext cx="4864608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sz="1100"/>
              <a:t>Geração iterativa e personas alteram trajetórias textuais.
(Chuang et al., 2024; Mohamed et al., 2025; Liu et al., 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861304"/>
            <a:ext cx="1067104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777F"/>
                </a:solidFill>
                <a:latin typeface="Aptos"/>
              </a:defRPr>
            </a:pPr>
            <a:r>
              <a:t>Lacuna a explicitar: faltam medidas interpretáveis para acompanhar deriva de conteúdo e afeto em reescritas sucessivas.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A70"/>
                </a:solidFill>
                <a:latin typeface="Aptos"/>
              </a:rPr>
              <a:t>MÉTODO · REESCRITA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Cada versão é reescrita sob uma perspectiva e alimenta a próxima etapa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417320"/>
            <a:ext cx="21488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9293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253D"/>
                </a:solidFill>
                <a:latin typeface="Aptos"/>
              </a:rPr>
              <a:t>Notícia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192938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46678"/>
                </a:solidFill>
                <a:latin typeface="Aptos"/>
              </a:rPr>
              <a:t>texto-base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1746504"/>
            <a:ext cx="329184" cy="256032"/>
          </a:xfrm>
          <a:prstGeom prst="rightArrow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148840" cy="868680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600200"/>
            <a:ext cx="19293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253D"/>
                </a:solidFill>
                <a:latin typeface="Aptos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901952"/>
            <a:ext cx="192938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46678"/>
                </a:solidFill>
                <a:latin typeface="Aptos"/>
              </a:rPr>
              <a:t>persona + título + idioma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41848" y="1746504"/>
            <a:ext cx="329184" cy="256032"/>
          </a:xfrm>
          <a:prstGeom prst="rightArrow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53328" y="1417320"/>
            <a:ext cx="2148840" cy="868680"/>
          </a:xfrm>
          <a:prstGeom prst="roundRect">
            <a:avLst/>
          </a:prstGeom>
          <a:solidFill>
            <a:srgbClr val="E7F0F9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1600200"/>
            <a:ext cx="19293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253D"/>
                </a:solidFill>
                <a:latin typeface="Aptos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901952"/>
            <a:ext cx="192938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46678"/>
                </a:solidFill>
                <a:latin typeface="Aptos"/>
              </a:rPr>
              <a:t>reescrita controlada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57616" y="1746504"/>
            <a:ext cx="329184" cy="256032"/>
          </a:xfrm>
          <a:prstGeom prst="rightArrow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69096" y="1417320"/>
            <a:ext cx="2148840" cy="868680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600200"/>
            <a:ext cx="19293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253D"/>
                </a:solidFill>
                <a:latin typeface="Aptos"/>
              </a:rPr>
              <a:t>Versão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1901952"/>
            <a:ext cx="192938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46678"/>
                </a:solidFill>
                <a:latin typeface="Aptos"/>
              </a:rPr>
              <a:t>entrada da próxima posição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2606040"/>
            <a:ext cx="32644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" y="2606040"/>
            <a:ext cx="73152" cy="2450592"/>
          </a:xfrm>
          <a:prstGeom prst="rect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" y="2816352"/>
            <a:ext cx="283464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1 · Entrada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3017520" cy="1527048"/>
          </a:xfrm>
          <a:prstGeom prst="rect">
            <a:avLst/>
          </a:prstGeom>
          <a:noFill/>
        </p:spPr>
        <p:txBody>
          <a:bodyPr wrap="square" lIns="128016" tIns="73152" rIns="128016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Primeira posição: </a:t>
            </a:r>
            <a:r>
              <a:rPr sz="1320">
                <a:solidFill>
                  <a:srgbClr val="12253D"/>
                </a:solidFill>
                <a:latin typeface="Aptos"/>
              </a:rPr>
              <a:t>recebe a notícia original.</a:t>
            </a:r>
          </a:p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Posições seguintes: </a:t>
            </a:r>
            <a:r>
              <a:rPr sz="1320">
                <a:solidFill>
                  <a:srgbClr val="12253D"/>
                </a:solidFill>
                <a:latin typeface="Aptos"/>
              </a:rPr>
              <a:t>recebem a saída da posição anterior.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2606040"/>
            <a:ext cx="32644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15968" y="2606040"/>
            <a:ext cx="73152" cy="2450592"/>
          </a:xfrm>
          <a:prstGeom prst="rect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2816352"/>
            <a:ext cx="283464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2 · Restrições do 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246120"/>
            <a:ext cx="3017520" cy="1527048"/>
          </a:xfrm>
          <a:prstGeom prst="rect">
            <a:avLst/>
          </a:prstGeom>
          <a:noFill/>
        </p:spPr>
        <p:txBody>
          <a:bodyPr wrap="square" lIns="128016" tIns="73152" rIns="128016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Preservar: </a:t>
            </a:r>
            <a:r>
              <a:rPr sz="1320">
                <a:solidFill>
                  <a:srgbClr val="12253D"/>
                </a:solidFill>
                <a:latin typeface="Aptos"/>
              </a:rPr>
              <a:t>conteúdo factual explícito e idioma solicitado.</a:t>
            </a:r>
          </a:p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Não inventar: </a:t>
            </a:r>
            <a:r>
              <a:rPr sz="1320">
                <a:solidFill>
                  <a:srgbClr val="12253D"/>
                </a:solidFill>
                <a:latin typeface="Aptos"/>
              </a:rPr>
              <a:t>dados, números, citações, eventos ou personagens.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2606040"/>
            <a:ext cx="32644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10144" y="2606040"/>
            <a:ext cx="73152" cy="2450592"/>
          </a:xfrm>
          <a:prstGeom prst="rect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0456" y="2816352"/>
            <a:ext cx="283464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3 · Transformação permitida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1" y="3246120"/>
            <a:ext cx="3017520" cy="1527048"/>
          </a:xfrm>
          <a:prstGeom prst="rect">
            <a:avLst/>
          </a:prstGeom>
          <a:noFill/>
        </p:spPr>
        <p:txBody>
          <a:bodyPr wrap="square" lIns="128016" tIns="73152" rIns="128016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Alterar: </a:t>
            </a:r>
            <a:r>
              <a:rPr sz="1320">
                <a:solidFill>
                  <a:srgbClr val="12253D"/>
                </a:solidFill>
                <a:latin typeface="Aptos"/>
              </a:rPr>
              <a:t>enquadramento, ênfase, tom, vocabulário e foco narrativo.</a:t>
            </a:r>
          </a:p>
          <a:p>
            <a:pPr>
              <a:spcAft>
                <a:spcPts val="700"/>
              </a:spcAft>
              <a:defRPr sz="1320">
                <a:solidFill>
                  <a:srgbClr val="12253D"/>
                </a:solidFill>
                <a:latin typeface="Aptos"/>
              </a:defRPr>
            </a:pPr>
            <a:r>
              <a:rPr sz="1320" b="1">
                <a:solidFill>
                  <a:srgbClr val="12253D"/>
                </a:solidFill>
                <a:latin typeface="Aptos"/>
              </a:rPr>
              <a:t>Saída: </a:t>
            </a:r>
            <a:r>
              <a:rPr sz="1320">
                <a:solidFill>
                  <a:srgbClr val="12253D"/>
                </a:solidFill>
                <a:latin typeface="Aptos"/>
              </a:rPr>
              <a:t>somente o texto reescrito, sem explicações ou rótulos.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21808"/>
            <a:ext cx="10652760" cy="713232"/>
          </a:xfrm>
          <a:prstGeom prst="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513832"/>
            <a:ext cx="16459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dirty="0" err="1">
                <a:solidFill>
                  <a:srgbClr val="006A70"/>
                </a:solidFill>
                <a:latin typeface="Aptos"/>
              </a:rPr>
              <a:t>Efeito</a:t>
            </a:r>
            <a:r>
              <a:rPr sz="1350" b="1" dirty="0">
                <a:solidFill>
                  <a:srgbClr val="006A70"/>
                </a:solidFill>
                <a:latin typeface="Aptos"/>
              </a:rPr>
              <a:t> </a:t>
            </a:r>
            <a:r>
              <a:rPr sz="1350" b="1" dirty="0" err="1">
                <a:solidFill>
                  <a:srgbClr val="006A70"/>
                </a:solidFill>
                <a:latin typeface="Aptos"/>
              </a:rPr>
              <a:t>acumulativo</a:t>
            </a:r>
            <a:endParaRPr sz="1350" b="1" dirty="0">
              <a:solidFill>
                <a:srgbClr val="006A70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49793" y="5518404"/>
            <a:ext cx="8503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20" b="0" dirty="0">
                <a:solidFill>
                  <a:srgbClr val="12253D"/>
                </a:solidFill>
                <a:latin typeface="Aptos"/>
              </a:rPr>
              <a:t>A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cadeia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mantém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o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contexto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de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título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e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idioma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, mas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cada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nova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reescrita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parte da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versão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produzida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2253D"/>
                </a:solidFill>
                <a:latin typeface="Aptos"/>
              </a:rPr>
              <a:t>anteriormente</a:t>
            </a:r>
            <a:r>
              <a:rPr sz="1320" b="0" dirty="0">
                <a:solidFill>
                  <a:srgbClr val="12253D"/>
                </a:solidFill>
                <a:latin typeface="Aptos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56248"/>
            <a:ext cx="47548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50" b="0">
                <a:solidFill>
                  <a:srgbClr val="5466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dirty="0">
                <a:solidFill>
                  <a:srgbClr val="006A70"/>
                </a:solidFill>
                <a:latin typeface="Aptos"/>
              </a:rPr>
              <a:t>MÉTODO · EXTRAÇÃO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O LLM converte cada texto em uma estrutura comparável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44168"/>
            <a:ext cx="274320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9344"/>
            <a:ext cx="2240280" cy="3017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06A70"/>
                </a:solidFill>
                <a:latin typeface="Aptos"/>
              </a:rPr>
              <a:t>Fluxo de extração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084831"/>
            <a:ext cx="438912" cy="438912"/>
          </a:xfrm>
          <a:prstGeom prst="ellipse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" y="2182840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66543"/>
            <a:ext cx="1627632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12253D"/>
                </a:solidFill>
                <a:latin typeface="Aptos"/>
              </a:rPr>
              <a:t>Título + texto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542032"/>
            <a:ext cx="32004" cy="39319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438912" cy="438912"/>
          </a:xfrm>
          <a:prstGeom prst="ellipse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40779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26080"/>
            <a:ext cx="1627632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12253D"/>
                </a:solidFill>
                <a:latin typeface="Aptos"/>
              </a:rPr>
              <a:t>Prompt fixo
(temperatura 0,1)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401568"/>
            <a:ext cx="32004" cy="39319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3858768"/>
            <a:ext cx="438912" cy="438912"/>
          </a:xfrm>
          <a:prstGeom prst="ellipse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59351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40480"/>
            <a:ext cx="1627632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12253D"/>
                </a:solidFill>
                <a:latin typeface="Aptos"/>
              </a:rPr>
              <a:t>JSON com chaves
pré-definidas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315968"/>
            <a:ext cx="32004" cy="39319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791456"/>
            <a:ext cx="438912" cy="438912"/>
          </a:xfrm>
          <a:prstGeom prst="ellipse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73168"/>
            <a:ext cx="1627632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2253D"/>
                </a:solidFill>
                <a:latin typeface="Aptos"/>
              </a:rPr>
              <a:t>Validação, normalização
e remoção de duplicatas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1389888"/>
            <a:ext cx="3474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6A70"/>
                </a:solidFill>
                <a:latin typeface="Aptos"/>
              </a:rPr>
              <a:t>Campos de conteúdo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1024" y="1783080"/>
            <a:ext cx="3703320" cy="658368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13048" y="1965339"/>
            <a:ext cx="138988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 err="1">
                <a:latin typeface="Aptos"/>
              </a:rPr>
              <a:t>main_topic</a:t>
            </a:r>
            <a:endParaRPr sz="1050" dirty="0"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80" y="1883664"/>
            <a:ext cx="190195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>
                <a:latin typeface="Aptos"/>
              </a:rPr>
              <a:t>assunto principal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21024" y="2633472"/>
            <a:ext cx="3703320" cy="658368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13048" y="2813866"/>
            <a:ext cx="138988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>
                <a:latin typeface="Aptos"/>
              </a:rPr>
              <a:t>subtopics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734056"/>
            <a:ext cx="190195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19">
                <a:latin typeface="Aptos"/>
              </a:rPr>
              <a:t>temas e ângulos secundários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21024" y="3483864"/>
            <a:ext cx="3703320" cy="658368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13048" y="3657600"/>
            <a:ext cx="138988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 err="1">
                <a:latin typeface="Aptos"/>
              </a:rPr>
              <a:t>central_entities</a:t>
            </a:r>
            <a:endParaRPr sz="1050" dirty="0"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2080" y="3584448"/>
            <a:ext cx="190195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19">
                <a:latin typeface="Aptos"/>
              </a:rPr>
              <a:t>pessoas, organizações, lugares e grupos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21024" y="4334256"/>
            <a:ext cx="3703320" cy="658368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13048" y="4512564"/>
            <a:ext cx="138988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 err="1">
                <a:latin typeface="Aptos"/>
              </a:rPr>
              <a:t>central_relations</a:t>
            </a:r>
            <a:endParaRPr sz="1050" dirty="0"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12080" y="4434840"/>
            <a:ext cx="190195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80">
                <a:latin typeface="Aptos"/>
              </a:rPr>
              <a:t>triplas sujeito · ação · objeto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1389888"/>
            <a:ext cx="39319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6A70"/>
                </a:solidFill>
                <a:latin typeface="Aptos"/>
              </a:rPr>
              <a:t>Campos de contexto e diagnóstico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26096" y="1783080"/>
            <a:ext cx="3986784" cy="658368"/>
          </a:xfrm>
          <a:prstGeom prst="roundRect">
            <a:avLst/>
          </a:prstGeom>
          <a:solidFill>
            <a:srgbClr val="E7F0F9"/>
          </a:solidFill>
          <a:ln w="12700">
            <a:solidFill>
              <a:srgbClr val="E7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1965339"/>
            <a:ext cx="2103120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 err="1">
                <a:latin typeface="Aptos"/>
              </a:rPr>
              <a:t>topic_domain</a:t>
            </a:r>
            <a:endParaRPr sz="1050" dirty="0"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02368" y="1883664"/>
            <a:ext cx="160020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60">
                <a:latin typeface="Aptos"/>
              </a:rPr>
              <a:t>domínio temático controlado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26096" y="2633472"/>
            <a:ext cx="3986784" cy="658368"/>
          </a:xfrm>
          <a:prstGeom prst="roundRect">
            <a:avLst/>
          </a:prstGeom>
          <a:solidFill>
            <a:srgbClr val="E7F0F9"/>
          </a:solidFill>
          <a:ln w="12700">
            <a:solidFill>
              <a:srgbClr val="E7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18120" y="2813866"/>
            <a:ext cx="2103120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 err="1">
                <a:latin typeface="Aptos"/>
              </a:rPr>
              <a:t>narrative_frame</a:t>
            </a:r>
            <a:endParaRPr sz="1050" dirty="0"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02368" y="2734056"/>
            <a:ext cx="160020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80">
                <a:latin typeface="Aptos"/>
              </a:rPr>
              <a:t>enquadramento dominante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26096" y="3483864"/>
            <a:ext cx="3986784" cy="658368"/>
          </a:xfrm>
          <a:prstGeom prst="roundRect">
            <a:avLst/>
          </a:prstGeom>
          <a:solidFill>
            <a:srgbClr val="E7F0F9"/>
          </a:solidFill>
          <a:ln w="12700">
            <a:solidFill>
              <a:srgbClr val="E7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18120" y="3674246"/>
            <a:ext cx="2103120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80" dirty="0" err="1">
                <a:latin typeface="Aptos"/>
              </a:rPr>
              <a:t>has_internal_contradiction</a:t>
            </a:r>
            <a:endParaRPr sz="880" dirty="0"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02368" y="3584448"/>
            <a:ext cx="160020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90">
                <a:latin typeface="Aptos"/>
              </a:rPr>
              <a:t>presença de contradição interna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6096" y="4334256"/>
            <a:ext cx="3986784" cy="658368"/>
          </a:xfrm>
          <a:prstGeom prst="roundRect">
            <a:avLst/>
          </a:prstGeom>
          <a:solidFill>
            <a:srgbClr val="E7F0F9"/>
          </a:solidFill>
          <a:ln w="12700">
            <a:solidFill>
              <a:srgbClr val="E7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20" y="4506350"/>
            <a:ext cx="2103120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40" dirty="0" err="1">
                <a:latin typeface="Aptos"/>
              </a:rPr>
              <a:t>internal_contradiction_score</a:t>
            </a:r>
            <a:endParaRPr sz="840" dirty="0"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02368" y="4434840"/>
            <a:ext cx="160020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00" dirty="0" err="1">
                <a:latin typeface="Aptos"/>
              </a:rPr>
              <a:t>intensidade</a:t>
            </a:r>
            <a:r>
              <a:rPr sz="900" dirty="0">
                <a:latin typeface="Aptos"/>
              </a:rPr>
              <a:t> entre 0 e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5358384"/>
            <a:ext cx="7991856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80" y="5404104"/>
            <a:ext cx="7571231" cy="4297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dirty="0">
                <a:latin typeface="Aptos"/>
              </a:rPr>
              <a:t>A </a:t>
            </a:r>
            <a:r>
              <a:rPr sz="1050" dirty="0" err="1">
                <a:latin typeface="Aptos"/>
              </a:rPr>
              <a:t>extração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descreve</a:t>
            </a:r>
            <a:r>
              <a:rPr sz="1050" dirty="0">
                <a:latin typeface="Aptos"/>
              </a:rPr>
              <a:t> o que </a:t>
            </a:r>
            <a:r>
              <a:rPr sz="1050" dirty="0" err="1">
                <a:latin typeface="Aptos"/>
              </a:rPr>
              <a:t>está</a:t>
            </a:r>
            <a:r>
              <a:rPr sz="1050" dirty="0">
                <a:latin typeface="Aptos"/>
              </a:rPr>
              <a:t> no </a:t>
            </a:r>
            <a:r>
              <a:rPr sz="1050" dirty="0" err="1">
                <a:latin typeface="Aptos"/>
              </a:rPr>
              <a:t>texto</a:t>
            </a:r>
            <a:r>
              <a:rPr sz="1050" dirty="0">
                <a:latin typeface="Aptos"/>
              </a:rPr>
              <a:t>.</a:t>
            </a:r>
          </a:p>
          <a:p>
            <a:pPr algn="ctr"/>
            <a:r>
              <a:rPr sz="1050" dirty="0">
                <a:latin typeface="Aptos"/>
              </a:rPr>
              <a:t>Ela </a:t>
            </a:r>
            <a:r>
              <a:rPr sz="1050" dirty="0" err="1">
                <a:latin typeface="Aptos"/>
              </a:rPr>
              <a:t>não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consulta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fontes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externas</a:t>
            </a:r>
            <a:r>
              <a:rPr sz="1050" dirty="0">
                <a:latin typeface="Aptos"/>
              </a:rPr>
              <a:t> e </a:t>
            </a:r>
            <a:r>
              <a:rPr sz="1050" dirty="0" err="1">
                <a:latin typeface="Aptos"/>
              </a:rPr>
              <a:t>não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determina</a:t>
            </a:r>
            <a:r>
              <a:rPr sz="1050" dirty="0">
                <a:latin typeface="Aptos"/>
              </a:rPr>
              <a:t> </a:t>
            </a:r>
            <a:r>
              <a:rPr sz="1050" dirty="0" err="1">
                <a:latin typeface="Aptos"/>
              </a:rPr>
              <a:t>veracidade</a:t>
            </a:r>
            <a:r>
              <a:rPr sz="1050" dirty="0">
                <a:latin typeface="Aptos"/>
              </a:rPr>
              <a:t> factual.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556248"/>
            <a:ext cx="47548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50" b="0">
                <a:solidFill>
                  <a:srgbClr val="5466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19" y="256032"/>
            <a:ext cx="2172133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b="1" dirty="0" smtClean="0">
                <a:solidFill>
                  <a:srgbClr val="006A70"/>
                </a:solidFill>
                <a:latin typeface="Aptos" panose="020B0604020202020204" pitchFamily="34" charset="0"/>
              </a:rPr>
              <a:t>MÉTODO · DOMÍNIO TEMÁTICO</a:t>
            </a:r>
            <a:endParaRPr sz="1100" b="1" dirty="0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7"/>
            <a:ext cx="9926051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2000" b="1" dirty="0" smtClean="0">
                <a:solidFill>
                  <a:srgbClr val="12253D"/>
                </a:solidFill>
                <a:latin typeface="Aptos" panose="020B0604020202020204" pitchFamily="34" charset="0"/>
              </a:rPr>
              <a:t>O LLM atribui um domínio primário do vocabulário controlado IPTC Media </a:t>
            </a:r>
            <a:r>
              <a:rPr lang="pt-BR" sz="2000" b="1" dirty="0" err="1" smtClean="0">
                <a:solidFill>
                  <a:srgbClr val="12253D"/>
                </a:solidFill>
                <a:latin typeface="Aptos" panose="020B0604020202020204" pitchFamily="34" charset="0"/>
              </a:rPr>
              <a:t>Topics</a:t>
            </a:r>
            <a:endParaRPr sz="2000" b="1" dirty="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0945368" cy="484632"/>
          </a:xfrm>
          <a:prstGeom prst="rect">
            <a:avLst/>
          </a:prstGeom>
          <a:solidFill>
            <a:srgbClr val="E5F5F2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79230" y="1426464"/>
            <a:ext cx="5433539" cy="22929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pt-BR" sz="1250" b="1" dirty="0" err="1" smtClean="0">
                <a:solidFill>
                  <a:srgbClr val="006A70"/>
                </a:solidFill>
                <a:latin typeface="Aptos" panose="020B0604020202020204" pitchFamily="34" charset="0"/>
              </a:rPr>
              <a:t>topic_domain</a:t>
            </a:r>
            <a:r>
              <a:rPr lang="pt-BR" sz="1250" b="1" dirty="0" smtClean="0">
                <a:solidFill>
                  <a:srgbClr val="006A70"/>
                </a:solidFill>
                <a:latin typeface="Aptos" panose="020B0604020202020204" pitchFamily="34" charset="0"/>
              </a:rPr>
              <a:t>: um dos 17 domínios controlados de IPTC Media </a:t>
            </a:r>
            <a:r>
              <a:rPr lang="pt-BR" sz="1250" b="1" dirty="0" err="1" smtClean="0">
                <a:solidFill>
                  <a:srgbClr val="006A70"/>
                </a:solidFill>
                <a:latin typeface="Aptos" panose="020B0604020202020204" pitchFamily="34" charset="0"/>
              </a:rPr>
              <a:t>Topics</a:t>
            </a:r>
            <a:r>
              <a:rPr lang="pt-BR" sz="1250" b="1" dirty="0" smtClean="0">
                <a:solidFill>
                  <a:srgbClr val="006A70"/>
                </a:solidFill>
                <a:latin typeface="Aptos" panose="020B0604020202020204" pitchFamily="34" charset="0"/>
              </a:rPr>
              <a:t>.</a:t>
            </a:r>
            <a:endParaRPr sz="1250" b="1" dirty="0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" y="5367528"/>
            <a:ext cx="10945368" cy="539496"/>
          </a:xfrm>
          <a:prstGeom prst="rect">
            <a:avLst/>
          </a:prstGeom>
          <a:solidFill>
            <a:srgbClr val="FFF7E6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90398" y="5513831"/>
            <a:ext cx="5998502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pt-BR" sz="1000" smtClean="0">
                <a:solidFill>
                  <a:srgbClr val="12253D"/>
                </a:solidFill>
                <a:latin typeface="Aptos" panose="020B0604020202020204" pitchFamily="34" charset="0"/>
              </a:rPr>
              <a:t>O domínio é extraído do texto pelo LLM. Use null somente quando não for possível determinar o domínio.</a:t>
            </a:r>
            <a:endParaRPr sz="10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01400" y="6556248"/>
            <a:ext cx="47548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50" b="0">
                <a:solidFill>
                  <a:srgbClr val="546678"/>
                </a:solidFill>
                <a:latin typeface="Aptos"/>
              </a:rPr>
              <a:t>11</a:t>
            </a:r>
          </a:p>
        </p:txBody>
      </p:sp>
      <p:sp>
        <p:nvSpPr>
          <p:cNvPr id="9" name="Retângulo 8"/>
          <p:cNvSpPr/>
          <p:nvPr/>
        </p:nvSpPr>
        <p:spPr>
          <a:xfrm>
            <a:off x="622300" y="1955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23900" y="2064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dirty="0" err="1" smtClean="0">
                <a:solidFill>
                  <a:srgbClr val="4A3D27"/>
                </a:solidFill>
                <a:latin typeface="Consolas" panose="020B0609020204030204" pitchFamily="49" charset="0"/>
              </a:rPr>
              <a:t>arts_culture_entertainment_and_media</a:t>
            </a:r>
            <a:endParaRPr lang="pt-BR" sz="1000" dirty="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394200" y="1955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4495800" y="2064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conflict_war_and_peace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166100" y="1955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8267700" y="2064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crime_law_and_justice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622300" y="2527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23900" y="2635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disaster_accident_and_emergency_incident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394200" y="2527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4495800" y="2635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economy_business_and_finance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8166100" y="2527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8267700" y="2635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education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622300" y="3098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723900" y="3207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environment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394200" y="3098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4495800" y="3207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health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8166100" y="3098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/>
          <p:cNvSpPr txBox="1"/>
          <p:nvPr/>
        </p:nvSpPr>
        <p:spPr>
          <a:xfrm>
            <a:off x="8267700" y="3207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human_interest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622300" y="3670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>
            <a:off x="723900" y="3778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labour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4394200" y="3670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4495800" y="3778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lifestyle_and_leisure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8166100" y="3670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/>
          <p:cNvSpPr txBox="1"/>
          <p:nvPr/>
        </p:nvSpPr>
        <p:spPr>
          <a:xfrm>
            <a:off x="8267700" y="3778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politics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Retângulo 63"/>
          <p:cNvSpPr/>
          <p:nvPr/>
        </p:nvSpPr>
        <p:spPr>
          <a:xfrm>
            <a:off x="622300" y="4241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723900" y="4350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religion_and_belief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4394200" y="4241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/>
          <p:cNvSpPr txBox="1"/>
          <p:nvPr/>
        </p:nvSpPr>
        <p:spPr>
          <a:xfrm>
            <a:off x="4495800" y="4350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science_and_technology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8166100" y="42418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CaixaDeTexto 73"/>
          <p:cNvSpPr txBox="1"/>
          <p:nvPr/>
        </p:nvSpPr>
        <p:spPr>
          <a:xfrm>
            <a:off x="8267700" y="43500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society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2501900" y="4813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/>
          <p:cNvSpPr txBox="1"/>
          <p:nvPr/>
        </p:nvSpPr>
        <p:spPr>
          <a:xfrm>
            <a:off x="2603500" y="4921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sport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6286500" y="4813300"/>
            <a:ext cx="3403600" cy="393700"/>
          </a:xfrm>
          <a:prstGeom prst="rect">
            <a:avLst/>
          </a:prstGeom>
          <a:solidFill>
            <a:srgbClr val="E2F0F7"/>
          </a:solidFill>
          <a:ln w="9525">
            <a:solidFill>
              <a:srgbClr val="B5D0E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/>
          <p:cNvSpPr txBox="1"/>
          <p:nvPr/>
        </p:nvSpPr>
        <p:spPr>
          <a:xfrm>
            <a:off x="6388100" y="4921553"/>
            <a:ext cx="32004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pt-BR" sz="1000" smtClean="0">
                <a:solidFill>
                  <a:srgbClr val="4A3D27"/>
                </a:solidFill>
                <a:latin typeface="Consolas" panose="020B0609020204030204" pitchFamily="49" charset="0"/>
              </a:rPr>
              <a:t>weather</a:t>
            </a:r>
            <a:endParaRPr lang="pt-BR" sz="650">
              <a:solidFill>
                <a:srgbClr val="4A3D27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dirty="0">
                <a:solidFill>
                  <a:srgbClr val="006A70"/>
                </a:solidFill>
                <a:latin typeface="Aptos"/>
              </a:rPr>
              <a:t>MÉTODO · EVOLUÇÃO DA 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A comparação evoluiu de sobreposição lexical para similaridade semântica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44168"/>
            <a:ext cx="5230368" cy="35935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00200"/>
            <a:ext cx="448056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6A70"/>
                </a:solidFill>
                <a:latin typeface="Aptos"/>
              </a:rPr>
              <a:t>Primeira versão · Jaccard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075688"/>
            <a:ext cx="4069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12253D"/>
                </a:solidFill>
                <a:latin typeface="Aptos"/>
              </a:rPr>
              <a:t>D_J(A,B) = 1 − |interseção| / |união|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645152" cy="1783080"/>
          </a:xfrm>
          <a:prstGeom prst="rect">
            <a:avLst/>
          </a:prstGeom>
          <a:noFill/>
        </p:spPr>
        <p:txBody>
          <a:bodyPr wrap="square" lIns="128016" tIns="73152" rIns="128016">
            <a:spAutoFit/>
          </a:bodyPr>
          <a:lstStyle/>
          <a:p>
            <a:pPr>
              <a:spcAft>
                <a:spcPts val="700"/>
              </a:spcAft>
              <a:defRPr sz="1310">
                <a:solidFill>
                  <a:srgbClr val="12253D"/>
                </a:solidFill>
                <a:latin typeface="Aptos"/>
              </a:defRPr>
            </a:pPr>
            <a:r>
              <a:rPr sz="1310" b="1">
                <a:solidFill>
                  <a:srgbClr val="12253D"/>
                </a:solidFill>
                <a:latin typeface="Aptos"/>
              </a:rPr>
              <a:t>Aplicação: </a:t>
            </a:r>
            <a:r>
              <a:rPr sz="1310">
                <a:solidFill>
                  <a:srgbClr val="12253D"/>
                </a:solidFill>
                <a:latin typeface="Aptos"/>
              </a:rPr>
              <a:t>subtópicos, entidades e triplas de relações já extraídas pelo LLM.</a:t>
            </a:r>
          </a:p>
          <a:p>
            <a:pPr>
              <a:spcAft>
                <a:spcPts val="700"/>
              </a:spcAft>
              <a:defRPr sz="1310">
                <a:solidFill>
                  <a:srgbClr val="12253D"/>
                </a:solidFill>
                <a:latin typeface="Aptos"/>
              </a:defRPr>
            </a:pPr>
            <a:r>
              <a:rPr sz="1310" b="1">
                <a:solidFill>
                  <a:srgbClr val="12253D"/>
                </a:solidFill>
                <a:latin typeface="Aptos"/>
              </a:rPr>
              <a:t>Tema: </a:t>
            </a:r>
            <a:r>
              <a:rPr sz="1310">
                <a:solidFill>
                  <a:srgbClr val="12253D"/>
                </a:solidFill>
                <a:latin typeface="Aptos"/>
              </a:rPr>
              <a:t>distância 0 para igualdade normalizada; 1 para qualquer diferença.</a:t>
            </a:r>
          </a:p>
          <a:p>
            <a:pPr>
              <a:spcAft>
                <a:spcPts val="700"/>
              </a:spcAft>
              <a:defRPr sz="1310">
                <a:solidFill>
                  <a:srgbClr val="12253D"/>
                </a:solidFill>
                <a:latin typeface="Aptos"/>
              </a:defRPr>
            </a:pPr>
            <a:r>
              <a:rPr sz="1310" b="1">
                <a:solidFill>
                  <a:srgbClr val="12253D"/>
                </a:solidFill>
                <a:latin typeface="Aptos"/>
              </a:rPr>
              <a:t>Limite: </a:t>
            </a:r>
            <a:r>
              <a:rPr sz="1310">
                <a:solidFill>
                  <a:srgbClr val="12253D"/>
                </a:solidFill>
                <a:latin typeface="Aptos"/>
              </a:rPr>
              <a:t>paráfrases semanticamente próximas podiam parecer totalmente diferentes.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16168" y="2880360"/>
            <a:ext cx="384048" cy="310896"/>
          </a:xfrm>
          <a:prstGeom prst="rightArrow">
            <a:avLst/>
          </a:prstGeom>
          <a:solidFill>
            <a:srgbClr val="00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088" y="1344168"/>
            <a:ext cx="5202936" cy="3593592"/>
          </a:xfrm>
          <a:prstGeom prst="round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3408" y="1600200"/>
            <a:ext cx="448056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6A70"/>
                </a:solidFill>
                <a:latin typeface="Aptos"/>
              </a:rPr>
              <a:t>Versão vigente ·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4626864" cy="2286000"/>
          </a:xfrm>
          <a:prstGeom prst="rect">
            <a:avLst/>
          </a:prstGeom>
          <a:noFill/>
        </p:spPr>
        <p:txBody>
          <a:bodyPr wrap="square" lIns="128016" tIns="73152" rIns="128016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12253D"/>
                </a:solidFill>
                <a:latin typeface="Aptos"/>
              </a:defRPr>
            </a:pPr>
            <a:r>
              <a:rPr sz="1280" b="1">
                <a:solidFill>
                  <a:srgbClr val="12253D"/>
                </a:solidFill>
                <a:latin typeface="Aptos"/>
              </a:rPr>
              <a:t>Representação: </a:t>
            </a:r>
            <a:r>
              <a:rPr sz="1280">
                <a:solidFill>
                  <a:srgbClr val="12253D"/>
                </a:solidFill>
                <a:latin typeface="Aptos"/>
              </a:rPr>
              <a:t>all-MiniLM-L6-v2 converte os elementos extraídos em vetores.</a:t>
            </a:r>
          </a:p>
          <a:p>
            <a:pPr>
              <a:spcAft>
                <a:spcPts val="700"/>
              </a:spcAft>
              <a:defRPr sz="1280">
                <a:solidFill>
                  <a:srgbClr val="12253D"/>
                </a:solidFill>
                <a:latin typeface="Aptos"/>
              </a:defRPr>
            </a:pPr>
            <a:r>
              <a:rPr sz="1280" b="1">
                <a:solidFill>
                  <a:srgbClr val="12253D"/>
                </a:solidFill>
                <a:latin typeface="Aptos"/>
              </a:rPr>
              <a:t>Comparação: </a:t>
            </a:r>
            <a:r>
              <a:rPr sz="1280">
                <a:solidFill>
                  <a:srgbClr val="12253D"/>
                </a:solidFill>
                <a:latin typeface="Aptos"/>
              </a:rPr>
              <a:t>similaridade por cosseno e pareamento guloso entre listas.</a:t>
            </a:r>
          </a:p>
          <a:p>
            <a:pPr>
              <a:spcAft>
                <a:spcPts val="700"/>
              </a:spcAft>
              <a:defRPr sz="1280">
                <a:solidFill>
                  <a:srgbClr val="12253D"/>
                </a:solidFill>
                <a:latin typeface="Aptos"/>
              </a:defRPr>
            </a:pPr>
            <a:r>
              <a:rPr sz="1280" b="1">
                <a:solidFill>
                  <a:srgbClr val="12253D"/>
                </a:solidFill>
                <a:latin typeface="Aptos"/>
              </a:rPr>
              <a:t>Relações: </a:t>
            </a:r>
            <a:r>
              <a:rPr sz="1280">
                <a:solidFill>
                  <a:srgbClr val="12253D"/>
                </a:solidFill>
                <a:latin typeface="Aptos"/>
              </a:rPr>
              <a:t>texto completo + sujeito + ação + objeto, com pesos internos fixos.</a:t>
            </a:r>
          </a:p>
          <a:p>
            <a:pPr>
              <a:spcAft>
                <a:spcPts val="700"/>
              </a:spcAft>
              <a:defRPr sz="1280">
                <a:solidFill>
                  <a:srgbClr val="12253D"/>
                </a:solidFill>
                <a:latin typeface="Aptos"/>
              </a:defRPr>
            </a:pPr>
            <a:r>
              <a:rPr sz="1280" b="1">
                <a:solidFill>
                  <a:srgbClr val="12253D"/>
                </a:solidFill>
                <a:latin typeface="Aptos"/>
              </a:rPr>
              <a:t>Agrupamento: </a:t>
            </a:r>
            <a:r>
              <a:rPr sz="1280">
                <a:solidFill>
                  <a:srgbClr val="12253D"/>
                </a:solidFill>
                <a:latin typeface="Aptos"/>
              </a:rPr>
              <a:t>K-means compartilhado e semente 42 apoiam inspeção e reprodução.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84648"/>
            <a:ext cx="11055096" cy="758952"/>
          </a:xfrm>
          <a:prstGeom prst="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376672"/>
            <a:ext cx="1673352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>
                <a:solidFill>
                  <a:srgbClr val="006A70"/>
                </a:solidFill>
                <a:latin typeface="Aptos"/>
              </a:rPr>
              <a:t>Domínio temático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5285232"/>
            <a:ext cx="89154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40">
                <a:latin typeface="Aptos"/>
              </a:rPr>
              <a:t>O LLM escolhe uma categoria controlada. Se os dois domínios conhecidos diferem,</a:t>
            </a:r>
          </a:p>
          <a:p>
            <a:pPr algn="ctr"/>
            <a:r>
              <a:rPr sz="940">
                <a:latin typeface="Aptos"/>
              </a:rPr>
              <a:t>a similaridade de tema é zerada. O domínio permite auditar cobertura; não é site nem fonte.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56248"/>
            <a:ext cx="47548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50" b="0">
                <a:solidFill>
                  <a:srgbClr val="5466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DEFINIÇÃO TEÓRICA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O STDI separa dimensões da transformação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254203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17627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21762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assunto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4203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2075688"/>
            <a:ext cx="217627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Subtópicos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724912"/>
            <a:ext cx="21762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aspectos abordados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828800"/>
            <a:ext cx="254203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6" y="2075688"/>
            <a:ext cx="217627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Entidades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724912"/>
            <a:ext cx="21762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atores centrais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5" y="1828800"/>
            <a:ext cx="254203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73184" y="2075688"/>
            <a:ext cx="217627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Relações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724912"/>
            <a:ext cx="21762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sujeito · ação · objeto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3803904"/>
            <a:ext cx="532180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2376" y="3803904"/>
            <a:ext cx="73152" cy="160020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005072"/>
            <a:ext cx="4910328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Contradição interna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608576"/>
            <a:ext cx="4846320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Intensidade de inconsistências presentes na versão comparada.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285232" cy="160020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803904"/>
            <a:ext cx="73152" cy="1600200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005072"/>
            <a:ext cx="487375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VAD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08576"/>
            <a:ext cx="4809744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Mudança de valência, arousal e dominância entre as versões.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696712"/>
            <a:ext cx="10579608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77F"/>
                </a:solidFill>
                <a:latin typeface="Aptos"/>
              </a:defRPr>
            </a:pPr>
            <a:r>
              <a:t>Um LLM extrai a estrutura; embeddings, agrupamento e regras calculam as distâncias.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STDI VIGENTE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A fórmula combina conteúdo, contradição e afeto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1746504"/>
            <a:ext cx="10716768" cy="1298448"/>
          </a:xfrm>
          <a:prstGeom prst="roundRect">
            <a:avLst/>
          </a:prstGeom>
          <a:solidFill>
            <a:srgbClr val="DC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70141"/>
            <a:ext cx="1013155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700" b="1">
                <a:solidFill>
                  <a:srgbClr val="356AA0"/>
                </a:solidFill>
                <a:latin typeface="Aptos"/>
              </a:defRPr>
            </a:pPr>
            <a:r>
              <a:rPr dirty="0"/>
              <a:t>Como o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no </a:t>
            </a:r>
            <a:r>
              <a:rPr dirty="0" err="1"/>
              <a:t>cálculo</a:t>
            </a:r>
            <a:r>
              <a:rPr dirty="0"/>
              <a:t> da </a:t>
            </a:r>
            <a:r>
              <a:rPr dirty="0" err="1"/>
              <a:t>deriva</a:t>
            </a:r>
            <a:r>
              <a:rPr dirty="0"/>
              <a:t> de </a:t>
            </a:r>
            <a:r>
              <a:rPr dirty="0" err="1"/>
              <a:t>tema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24128" y="2304288"/>
            <a:ext cx="19202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900" b="1">
                <a:solidFill>
                  <a:srgbClr val="172026"/>
                </a:solidFill>
                <a:latin typeface="Aptos"/>
              </a:defRPr>
            </a:pPr>
            <a:r>
              <a:t>topic_domain (IPTC)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8980" y="2240280"/>
            <a:ext cx="3200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400" b="0">
                <a:solidFill>
                  <a:srgbClr val="5F6B72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2058177"/>
            <a:ext cx="2043684" cy="784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700" b="1">
                <a:solidFill>
                  <a:srgbClr val="172026"/>
                </a:solidFill>
                <a:latin typeface="Aptos"/>
              </a:defRPr>
            </a:pP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conhecidos</a:t>
            </a:r>
            <a:r>
              <a:rPr dirty="0"/>
              <a:t/>
            </a:r>
            <a:br>
              <a:rPr dirty="0"/>
            </a:br>
            <a:r>
              <a:rPr dirty="0"/>
              <a:t>e </a:t>
            </a:r>
            <a:r>
              <a:rPr dirty="0" err="1"/>
              <a:t>diferentes</a:t>
            </a:r>
            <a:r>
              <a:rPr dirty="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286000"/>
            <a:ext cx="71323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800" b="1">
                <a:solidFill>
                  <a:srgbClr val="B55345"/>
                </a:solidFill>
                <a:latin typeface="Aptos"/>
              </a:defRPr>
            </a:pPr>
            <a:r>
              <a:t>→ Sim: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8177"/>
            <a:ext cx="1828800" cy="784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700" b="1">
                <a:solidFill>
                  <a:srgbClr val="B55345"/>
                </a:solidFill>
                <a:latin typeface="Aptos"/>
              </a:defRPr>
            </a:pPr>
            <a:r>
              <a:rPr dirty="0" err="1"/>
              <a:t>similaridade</a:t>
            </a:r>
            <a:r>
              <a:rPr dirty="0"/>
              <a:t> de </a:t>
            </a:r>
            <a:r>
              <a:rPr dirty="0" err="1"/>
              <a:t>tema</a:t>
            </a:r>
            <a:r>
              <a:rPr dirty="0"/>
              <a:t> = 0</a:t>
            </a:r>
            <a:br>
              <a:rPr dirty="0"/>
            </a:br>
            <a:r>
              <a:rPr dirty="0"/>
              <a:t>D </a:t>
            </a:r>
            <a:r>
              <a:rPr dirty="0" err="1"/>
              <a:t>tema</a:t>
            </a:r>
            <a:r>
              <a:rPr dirty="0"/>
              <a:t>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7337" y="2286000"/>
            <a:ext cx="1234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700" b="1">
                <a:solidFill>
                  <a:srgbClr val="277260"/>
                </a:solidFill>
                <a:latin typeface="Aptos"/>
              </a:defRPr>
            </a:pPr>
            <a:r>
              <a:rPr dirty="0"/>
              <a:t>→ </a:t>
            </a:r>
            <a:r>
              <a:rPr dirty="0" err="1"/>
              <a:t>Não</a:t>
            </a:r>
            <a:r>
              <a:rPr dirty="0"/>
              <a:t>/</a:t>
            </a:r>
            <a:r>
              <a:rPr dirty="0" err="1"/>
              <a:t>ausente</a:t>
            </a:r>
            <a:r>
              <a:rPr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2672" y="2081260"/>
            <a:ext cx="2013632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277260"/>
                </a:solidFill>
                <a:latin typeface="Aptos"/>
              </a:defRPr>
            </a:pPr>
            <a:r>
              <a:rPr dirty="0" err="1"/>
              <a:t>similaridade</a:t>
            </a:r>
            <a:r>
              <a:rPr dirty="0"/>
              <a:t> </a:t>
            </a:r>
            <a:r>
              <a:rPr dirty="0" err="1"/>
              <a:t>semântica</a:t>
            </a:r>
            <a:r>
              <a:rPr dirty="0"/>
              <a:t/>
            </a:r>
            <a:br>
              <a:rPr dirty="0"/>
            </a:br>
            <a:r>
              <a:rPr dirty="0"/>
              <a:t>do </a:t>
            </a:r>
            <a:r>
              <a:rPr dirty="0" err="1"/>
              <a:t>main_topic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40664" y="3255264"/>
            <a:ext cx="10716768" cy="621792"/>
          </a:xfrm>
          <a:prstGeom prst="roundRect">
            <a:avLst/>
          </a:prstGeom>
          <a:solidFill>
            <a:srgbClr val="DD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3447288"/>
            <a:ext cx="10149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400" b="1">
                <a:solidFill>
                  <a:srgbClr val="172026"/>
                </a:solidFill>
                <a:latin typeface="Aptos"/>
              </a:defRPr>
            </a:pPr>
            <a:r>
              <a:t>C = 0,25 × (D tema + D subtópicos + D entidades + D relações)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" y="4078224"/>
            <a:ext cx="10716768" cy="74980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242816"/>
            <a:ext cx="1013155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100" b="1">
                <a:solidFill>
                  <a:srgbClr val="172026"/>
                </a:solidFill>
                <a:latin typeface="Aptos"/>
              </a:defRPr>
            </a:pPr>
            <a:r>
              <a:t>Cᶜ = C + (1 − C) × 0,20 × D contradição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26280"/>
            <a:ext cx="1013155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100" b="1">
                <a:solidFill>
                  <a:srgbClr val="172026"/>
                </a:solidFill>
                <a:latin typeface="Aptos"/>
              </a:defRPr>
            </a:pPr>
            <a:r>
              <a:t>STDI = Cᶜ + (1 − Cᶜ) × 0,20 × D VAD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138928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800" b="1">
                <a:solidFill>
                  <a:srgbClr val="172026"/>
                </a:solidFill>
                <a:latin typeface="Aptos"/>
              </a:defRPr>
            </a:pPr>
            <a:r>
              <a:t>D VAD = média das diferenças absolutas normalizadas de valência, arousal e dominância.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1383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800" b="1">
                <a:solidFill>
                  <a:srgbClr val="B55345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afeta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D </a:t>
            </a:r>
            <a:r>
              <a:rPr dirty="0" err="1"/>
              <a:t>tema</a:t>
            </a:r>
            <a:r>
              <a:rPr dirty="0"/>
              <a:t>;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no </a:t>
            </a:r>
            <a:r>
              <a:rPr dirty="0" err="1"/>
              <a:t>cálculo</a:t>
            </a:r>
            <a:r>
              <a:rPr dirty="0"/>
              <a:t> de D VAD.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925312"/>
            <a:ext cx="105156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500" b="0">
                <a:solidFill>
                  <a:srgbClr val="5F6B72"/>
                </a:solidFill>
                <a:latin typeface="Aptos"/>
              </a:defRPr>
            </a:pPr>
            <a:r>
              <a:rPr dirty="0" err="1"/>
              <a:t>Contradição</a:t>
            </a:r>
            <a:r>
              <a:rPr dirty="0"/>
              <a:t> é </a:t>
            </a:r>
            <a:r>
              <a:rPr dirty="0" err="1"/>
              <a:t>interna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comparado</a:t>
            </a:r>
            <a:r>
              <a:rPr dirty="0"/>
              <a:t>; STDI alto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equivale</a:t>
            </a:r>
            <a:r>
              <a:rPr dirty="0"/>
              <a:t> a </a:t>
            </a:r>
            <a:r>
              <a:rPr dirty="0" err="1"/>
              <a:t>falsidade</a:t>
            </a:r>
            <a:r>
              <a:rPr dirty="0"/>
              <a:t> factual.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DEFINIÇÃO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A configuração do índice foi consolidada antes das cadeias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773936"/>
            <a:ext cx="3502152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1773936"/>
            <a:ext cx="73152" cy="327355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Casos controlados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3026664" cy="23408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50 pares com alterações dirigidas a tema, subtópico, entidade, relação, contradição ou VAD.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73936"/>
            <a:ext cx="3502152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73936"/>
            <a:ext cx="73152" cy="327355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Métodos comparados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78608"/>
            <a:ext cx="3026664" cy="23408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Avaliação semântica por LLM e comparação por embeddings, agrupamento e regras sobre as mesmas estruturas.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1773936"/>
            <a:ext cx="3502152" cy="3273552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82712" y="1773936"/>
            <a:ext cx="73152" cy="3273552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975104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Decisão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578608"/>
            <a:ext cx="3026664" cy="23408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Pesos de conteúdo iguais; contradição e VAD como incrementos limitados; método de embeddings nas cadeias.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5385816"/>
            <a:ext cx="10661904" cy="594360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5532120"/>
            <a:ext cx="10186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O STDI será mantido nessa configuração para preservar comparabilidade entre todos os cenários.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CORPUS E 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experimento</a:t>
            </a:r>
            <a:r>
              <a:rPr dirty="0"/>
              <a:t> final </a:t>
            </a:r>
            <a:r>
              <a:rPr dirty="0" err="1"/>
              <a:t>usa</a:t>
            </a:r>
            <a:r>
              <a:rPr dirty="0"/>
              <a:t> uma </a:t>
            </a:r>
            <a:r>
              <a:rPr dirty="0" err="1"/>
              <a:t>amostra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 de </a:t>
            </a:r>
            <a:r>
              <a:rPr dirty="0" err="1"/>
              <a:t>notícias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inglês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69164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892807"/>
            <a:ext cx="2057400" cy="4480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0777F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205740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notícias elegíveis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69164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1892807"/>
            <a:ext cx="2057400" cy="4480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0777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441448"/>
            <a:ext cx="205740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notícias nas cadeias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892807"/>
            <a:ext cx="2057400" cy="4480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0777F"/>
                </a:solidFill>
                <a:latin typeface="Aptos"/>
              </a:defRPr>
            </a:pPr>
            <a:r>
              <a:t>inglês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441448"/>
            <a:ext cx="205740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idioma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169164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892807"/>
            <a:ext cx="2057400" cy="4480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0777F"/>
                </a:solidFill>
                <a:latin typeface="Aptos"/>
              </a:defRPr>
            </a:pPr>
            <a:r>
              <a:t>53,5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41448"/>
            <a:ext cx="205740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mediana de palavras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3218688"/>
            <a:ext cx="53035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2376" y="3218688"/>
            <a:ext cx="73152" cy="201168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3419856"/>
            <a:ext cx="48920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Composição das 50 notícias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023360"/>
            <a:ext cx="4828031" cy="10789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27 business; top</a:t>
            </a:r>
          </a:p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22 business</a:t>
            </a:r>
          </a:p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1 business; top; environment</a:t>
            </a:r>
          </a:p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Textos com 27–412 palavras.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218688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8" y="3383280"/>
            <a:ext cx="477316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Amostra documentada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739896"/>
            <a:ext cx="4773168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Protocolo disponível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288536"/>
            <a:ext cx="4754880" cy="35702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rPr lang="pt-BR" sz="1100" smtClean="0">
                <a:latin typeface="Aptos" panose="020B0604020202020204" pitchFamily="34" charset="0"/>
              </a:rPr>
              <a:t>Amostra fixa: 50 de 1.000 notícias elegíveis, em inglês, com 27–412 palavras.</a:t>
            </a:r>
            <a:endParaRPr sz="1100">
              <a:latin typeface="Aptos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650992"/>
            <a:ext cx="10625328" cy="4297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D4D43"/>
                </a:solidFill>
                <a:latin typeface="Aptos"/>
              </a:defRPr>
            </a:pPr>
            <a:r>
              <a:t>A concentração editorial em negócios limita a generalização e deve aparecer explicitamente na discussão.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rPr dirty="0"/>
              <a:t>MATERIAIS E DESENHO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Os experimentos cumprem funções complementares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73152" cy="324612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48256"/>
            <a:ext cx="310896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Auditorias iniciais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51760"/>
            <a:ext cx="3044952" cy="2313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Reescritas por diferentes LLMs e personas; detector pré-treinado e BERT/NLI.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847088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1847088"/>
            <a:ext cx="73152" cy="324612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2048256"/>
            <a:ext cx="310896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Análises dos 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51760"/>
            <a:ext cx="3044952" cy="2313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Casos controlados, regressão logística, VAD e comparação dos métodos de cálculo.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47088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91856" y="1847088"/>
            <a:ext cx="73152" cy="324612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6" y="2048256"/>
            <a:ext cx="310896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Simulação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651760"/>
            <a:ext cx="3044952" cy="2313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C2C3F"/>
                </a:solidFill>
                <a:latin typeface="Aptos"/>
              </a:defRPr>
            </a:pPr>
            <a:r>
              <a:t>16 cenários com diferentes sequências de perspectivas aplicados às mesmas 50 notícias.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522976"/>
            <a:ext cx="1065276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777F"/>
                </a:solidFill>
                <a:latin typeface="Aptos"/>
              </a:defRPr>
            </a:pPr>
            <a:r>
              <a:t>A sequência metodológica vai da limitação da classificação binária à análise estruturada das cadeias.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ANÁLISE DOS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A regressão testou quais atributos distinguiam os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00784"/>
            <a:ext cx="649224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Importância por permutação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12848"/>
            <a:ext cx="2176272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Arousal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231136"/>
            <a:ext cx="3405225" cy="246888"/>
          </a:xfrm>
          <a:prstGeom prst="roundRect">
            <a:avLst>
              <a:gd name="adj" fmla="val 12000"/>
            </a:avLst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2194560"/>
            <a:ext cx="56692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132235"/>
                </a:solidFill>
                <a:latin typeface="Aptos"/>
              </a:defRPr>
            </a:pPr>
            <a:r>
              <a:t>0,314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43784"/>
            <a:ext cx="2176272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Extensão do texto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2862072"/>
            <a:ext cx="1188298" cy="246888"/>
          </a:xfrm>
          <a:prstGeom prst="roundRect">
            <a:avLst>
              <a:gd name="adj" fmla="val 12000"/>
            </a:avLst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825496"/>
            <a:ext cx="56692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132235"/>
                </a:solidFill>
                <a:latin typeface="Aptos"/>
              </a:defRPr>
            </a:pPr>
            <a:r>
              <a:t>0,109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74720"/>
            <a:ext cx="2176272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Contradição interna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3493008"/>
            <a:ext cx="76033" cy="246888"/>
          </a:xfrm>
          <a:prstGeom prst="roundRect">
            <a:avLst>
              <a:gd name="adj" fmla="val 12000"/>
            </a:avLst>
          </a:prstGeom>
          <a:solidFill>
            <a:srgbClr val="3E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3456432"/>
            <a:ext cx="56692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132235"/>
                </a:solidFill>
                <a:latin typeface="Aptos"/>
              </a:defRPr>
            </a:pPr>
            <a:r>
              <a:t>0,007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105656"/>
            <a:ext cx="2176272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Quantidade de entidades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123944"/>
            <a:ext cx="55396" cy="246888"/>
          </a:xfrm>
          <a:prstGeom prst="roundRect">
            <a:avLst>
              <a:gd name="adj" fmla="val 12000"/>
            </a:avLst>
          </a:prstGeom>
          <a:solidFill>
            <a:srgbClr val="3E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4087368"/>
            <a:ext cx="56692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132235"/>
                </a:solidFill>
                <a:latin typeface="Aptos"/>
              </a:defRPr>
            </a:pPr>
            <a:r>
              <a:t>0,005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36592"/>
            <a:ext cx="2176272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Quantidade de relações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7792" y="4754879"/>
            <a:ext cx="45720" cy="246888"/>
          </a:xfrm>
          <a:prstGeom prst="roundRect">
            <a:avLst>
              <a:gd name="adj" fmla="val 12000"/>
            </a:avLst>
          </a:prstGeom>
          <a:solidFill>
            <a:srgbClr val="3E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4718304"/>
            <a:ext cx="56692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132235"/>
                </a:solidFill>
                <a:latin typeface="Aptos"/>
              </a:defRPr>
            </a:pPr>
            <a:r>
              <a:t>0,002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746504"/>
            <a:ext cx="400507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1746504"/>
            <a:ext cx="73152" cy="1874519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1947672"/>
            <a:ext cx="3593591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Pergunta do teste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551176"/>
            <a:ext cx="3529584" cy="94183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Os atributos extraídos carregam sinal para distinguir notícias falsas originais de versões reescritas?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3822191"/>
            <a:ext cx="4005072" cy="15544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52360" y="3822191"/>
            <a:ext cx="73152" cy="1554480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0" y="4023359"/>
            <a:ext cx="3593591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Leitura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526280"/>
            <a:ext cx="3529584" cy="749808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rPr sz="1300"/>
              <a:t>Arousal foi o sinal dominante. Extensão também pesa e deve ser tratada como possível fator de estilo.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760720"/>
            <a:ext cx="1062532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500 originais + 500 reescritas; classes usadas como grupos de referência, não como verificação factual.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ANÁLISE VAD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O sinal de arousal foi examinado diretamente em pares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636776"/>
            <a:ext cx="10735056" cy="630936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3460"/>
            <a:ext cx="10204704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rPr sz="1500" dirty="0"/>
              <a:t>A </a:t>
            </a:r>
            <a:r>
              <a:rPr sz="1500" dirty="0" err="1"/>
              <a:t>regressão</a:t>
            </a:r>
            <a:r>
              <a:rPr sz="1500" dirty="0"/>
              <a:t> </a:t>
            </a:r>
            <a:r>
              <a:rPr sz="1500" dirty="0" err="1"/>
              <a:t>apontou</a:t>
            </a:r>
            <a:r>
              <a:rPr sz="1500" dirty="0"/>
              <a:t> arousal </a:t>
            </a:r>
            <a:r>
              <a:rPr sz="1500" dirty="0" err="1"/>
              <a:t>como</a:t>
            </a:r>
            <a:r>
              <a:rPr sz="1500" dirty="0"/>
              <a:t> </a:t>
            </a:r>
            <a:r>
              <a:rPr sz="1500" dirty="0" err="1"/>
              <a:t>atributo</a:t>
            </a:r>
            <a:r>
              <a:rPr sz="1500" dirty="0"/>
              <a:t> </a:t>
            </a:r>
            <a:r>
              <a:rPr sz="1500" dirty="0" err="1"/>
              <a:t>mais</a:t>
            </a:r>
            <a:r>
              <a:rPr sz="1500" dirty="0"/>
              <a:t> </a:t>
            </a:r>
            <a:r>
              <a:rPr sz="1500" dirty="0" err="1"/>
              <a:t>informativo</a:t>
            </a:r>
            <a:r>
              <a:rPr sz="1500" dirty="0"/>
              <a:t>; a </a:t>
            </a:r>
            <a:r>
              <a:rPr sz="1500" dirty="0" err="1"/>
              <a:t>análise</a:t>
            </a:r>
            <a:r>
              <a:rPr sz="1500" dirty="0"/>
              <a:t> </a:t>
            </a:r>
            <a:r>
              <a:rPr sz="1500" dirty="0" err="1"/>
              <a:t>pareada</a:t>
            </a:r>
            <a:r>
              <a:rPr sz="1500" dirty="0"/>
              <a:t> </a:t>
            </a:r>
            <a:r>
              <a:rPr sz="1500" dirty="0" err="1"/>
              <a:t>ajuda</a:t>
            </a:r>
            <a:r>
              <a:rPr sz="1500" dirty="0"/>
              <a:t> a </a:t>
            </a:r>
            <a:r>
              <a:rPr sz="1500" dirty="0" err="1"/>
              <a:t>interpretar</a:t>
            </a:r>
            <a:r>
              <a:rPr sz="1500" dirty="0"/>
              <a:t> </a:t>
            </a:r>
            <a:r>
              <a:rPr sz="1500" dirty="0" err="1"/>
              <a:t>esse</a:t>
            </a:r>
            <a:r>
              <a:rPr sz="1500" dirty="0"/>
              <a:t> </a:t>
            </a:r>
            <a:r>
              <a:rPr sz="1500" dirty="0" err="1"/>
              <a:t>sinal</a:t>
            </a:r>
            <a:r>
              <a:rPr sz="15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2496312"/>
            <a:ext cx="6912864" cy="2752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752344"/>
            <a:ext cx="45720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32235"/>
                </a:solidFill>
                <a:latin typeface="Aptos"/>
              </a:defRPr>
            </a:pPr>
            <a:r>
              <a:t>Arousal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392424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Texto 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8104" y="3383280"/>
            <a:ext cx="3584448" cy="347472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3355848"/>
            <a:ext cx="667512" cy="4023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3,292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050791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Reescrita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8104" y="4041648"/>
            <a:ext cx="3374136" cy="3474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4014215"/>
            <a:ext cx="685800" cy="4023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3,096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4663440"/>
            <a:ext cx="6144768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77F"/>
                </a:solidFill>
                <a:latin typeface="Aptos"/>
              </a:defRPr>
            </a:pPr>
            <a:r>
              <a:t>Queda em 21/24 pares  •  Δ médio = −0,196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496312"/>
            <a:ext cx="3602736" cy="275234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63840" y="2496312"/>
            <a:ext cx="73152" cy="2752344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191256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Interpretação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300984"/>
            <a:ext cx="3127248" cy="18196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Reescritas corretivas do mesmo tema ficaram menos ativadoras. A correção factual não foi verificada externamente.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SIMULAÇÃO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A etapa final compara sequências de perspectivas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10716768" cy="484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32235"/>
                </a:solidFill>
                <a:latin typeface="Aptos"/>
              </a:defRPr>
            </a:pPr>
            <a:r>
              <a:t>Cada cenário da simulação final contém quatro posições; isso não limita as demais reescritas realizadas no estudo.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04288"/>
            <a:ext cx="1993392" cy="1225296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" y="2496312"/>
            <a:ext cx="1700784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962656"/>
            <a:ext cx="1700784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notícia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79192"/>
            <a:ext cx="265176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7" y="2304288"/>
            <a:ext cx="1993392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63823" y="2496312"/>
            <a:ext cx="1700784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Agente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3" y="2962656"/>
            <a:ext cx="1700784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perspectiva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79192"/>
            <a:ext cx="265176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1807" y="2304288"/>
            <a:ext cx="1993392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95544" y="2496312"/>
            <a:ext cx="1700784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Agente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2962656"/>
            <a:ext cx="1700784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perspectiva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679192"/>
            <a:ext cx="265176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53527" y="2304288"/>
            <a:ext cx="1993392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27263" y="2496312"/>
            <a:ext cx="1700784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Agente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3" y="2962656"/>
            <a:ext cx="1700784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perspectiva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79192"/>
            <a:ext cx="265176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DA9F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85248" y="2304288"/>
            <a:ext cx="1993392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58984" y="2496312"/>
            <a:ext cx="1700784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32235"/>
                </a:solidFill>
                <a:latin typeface="Aptos"/>
              </a:defRPr>
            </a:pPr>
            <a:r>
              <a:t>Agente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8984" y="2962656"/>
            <a:ext cx="1700784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perspectiva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" y="3904487"/>
            <a:ext cx="3502152" cy="1399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" y="3904487"/>
            <a:ext cx="73152" cy="139903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4105655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Homogêneos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709159"/>
            <a:ext cx="3026664" cy="4663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SSSS, CCCC, PPPP, DDDD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904487"/>
            <a:ext cx="3502152" cy="1399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43400" y="3904487"/>
            <a:ext cx="73152" cy="139903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4105655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Ordem e alternância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09159"/>
            <a:ext cx="3026664" cy="4663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C/P e D/S em blocos ou alternados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64424" y="3904487"/>
            <a:ext cx="3502152" cy="1399032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64424" y="3904487"/>
            <a:ext cx="73152" cy="1399032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93024" y="4105655"/>
            <a:ext cx="30906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Posição de E e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4709159"/>
            <a:ext cx="3026664" cy="4663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C2C3F"/>
                </a:solidFill>
                <a:latin typeface="Aptos"/>
              </a:defRPr>
            </a:pPr>
            <a:r>
              <a:t>Amplificação emocional e conciliação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10680192" cy="356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C: conservadora · P: progressista · D: conspiratória · S: cética · E: emocional · M: conciliatória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RESULTADOS POR CENÁRIO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lang="pt-BR" sz="2000" smtClean="0">
                <a:latin typeface="Aptos" panose="020B0604020202020204" pitchFamily="34" charset="0"/>
              </a:rPr>
              <a:t>STDI da 4ª reescrita em relação ao texto original; diferenças de ordem ainda incertas</a:t>
            </a:r>
            <a:endParaRPr sz="2000">
              <a:latin typeface="Aptos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609344"/>
            <a:ext cx="5138928" cy="356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Homogêneos e sequências C/P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1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295144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SSSS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64792" y="2395727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2350" y="2322576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267712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724911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CCCC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64792" y="2825495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40824" y="2752344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21807" y="2697479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154679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PPPP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64792" y="3255263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62033" y="3182112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21807" y="3127248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584448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DDDD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64792" y="3685032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054230" y="3611880"/>
            <a:ext cx="137160" cy="137160"/>
          </a:xfrm>
          <a:prstGeom prst="ellipse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21807" y="3557016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014215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CCPP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64792" y="4114800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1229" y="4041648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21807" y="3986783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443983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PPCC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64792" y="4544568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695307" y="4471416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21807" y="4416551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873751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CPCP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64792" y="4974336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919828" y="4901183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21807" y="4846319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303520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PCPC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64792" y="5404104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114742" y="5330952"/>
            <a:ext cx="137160" cy="137160"/>
          </a:xfrm>
          <a:prstGeom prst="ellipse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21807" y="5276088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344" y="1609344"/>
            <a:ext cx="5138928" cy="356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Sequências D/S e posição de E/M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1464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9951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0736" y="1965960"/>
            <a:ext cx="43891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0,30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344" y="2295144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DDSS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51192" y="2395727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871604" y="2322576"/>
            <a:ext cx="137160" cy="137160"/>
          </a:xfrm>
          <a:prstGeom prst="ellipse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808208" y="2267712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1344" y="2724911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SSDD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51192" y="2825495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26451" y="2752344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08208" y="2697479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81344" y="3154679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DSDS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1192" y="3255263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36766" y="3182112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808208" y="3127248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81344" y="3584448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SDSD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51192" y="3685032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902258" y="3611880"/>
            <a:ext cx="137160" cy="137160"/>
          </a:xfrm>
          <a:prstGeom prst="ellipse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8208" y="3557016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1344" y="4014215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DDES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51192" y="4114800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947732" y="4041648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8208" y="3986783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81344" y="4443983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DDSE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51192" y="4544568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361758" y="4471416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808208" y="4416551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81344" y="4873751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CMPC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51192" y="4974336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190264" y="4901183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808208" y="4846319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81344" y="5303520"/>
            <a:ext cx="685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C2C3F"/>
                </a:solidFill>
                <a:latin typeface="Aptos"/>
              </a:defRPr>
            </a:pPr>
            <a:r>
              <a:t>CPMC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51192" y="5404104"/>
            <a:ext cx="3438144" cy="13716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175428" y="5330952"/>
            <a:ext cx="137160" cy="137160"/>
          </a:xfrm>
          <a:prstGeom prst="ellipse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808208" y="5276088"/>
            <a:ext cx="5669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32235"/>
                </a:solidFill>
                <a:latin typeface="Aptos"/>
              </a:defRPr>
            </a:pPr>
            <a:r>
              <a:t>0,258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" y="5806440"/>
            <a:ext cx="10716768" cy="4114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0976" y="5907024"/>
            <a:ext cx="10241280" cy="2651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32235"/>
                </a:solidFill>
                <a:latin typeface="Aptos"/>
              </a:defRPr>
            </a:pPr>
            <a:r>
              <a:t>Maior contraste pareado: CPCP − PCPC = +0,023; o intervalo de reamostragem ainda inclui zero.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RESULTADOS POR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A deriva também varia conforme o tipo de notícia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56231"/>
            <a:ext cx="281635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C2C3F"/>
                </a:solidFill>
                <a:latin typeface="Aptos"/>
              </a:defRPr>
            </a:pPr>
            <a:r>
              <a:t>Meio ambiente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892807"/>
            <a:ext cx="3708117" cy="310896"/>
          </a:xfrm>
          <a:prstGeom prst="roundRect">
            <a:avLst>
              <a:gd name="adj" fmla="val 12000"/>
            </a:avLst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856231"/>
            <a:ext cx="56692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32235"/>
                </a:solidFill>
                <a:latin typeface="Aptos"/>
              </a:defRPr>
            </a:pPr>
            <a:r>
              <a:t>0,282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856231"/>
            <a:ext cx="129844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96977"/>
                </a:solidFill>
                <a:latin typeface="Aptos"/>
              </a:defRPr>
            </a:pPr>
            <a:r>
              <a:t>n = 2 notícias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42615"/>
            <a:ext cx="281635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C2C3F"/>
                </a:solidFill>
                <a:latin typeface="Aptos"/>
              </a:defRPr>
            </a:pPr>
            <a:r>
              <a:t>Governo e políticas públicas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679191"/>
            <a:ext cx="3671172" cy="310896"/>
          </a:xfrm>
          <a:prstGeom prst="roundRect">
            <a:avLst>
              <a:gd name="adj" fmla="val 12000"/>
            </a:avLst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642615"/>
            <a:ext cx="56692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32235"/>
                </a:solidFill>
                <a:latin typeface="Aptos"/>
              </a:defRPr>
            </a:pPr>
            <a:r>
              <a:t>0,279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642615"/>
            <a:ext cx="129844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96977"/>
                </a:solidFill>
                <a:latin typeface="Aptos"/>
              </a:defRPr>
            </a:pPr>
            <a:r>
              <a:t>n = 12 notícias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429000"/>
            <a:ext cx="281635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C2C3F"/>
                </a:solidFill>
                <a:latin typeface="Aptos"/>
              </a:defRPr>
            </a:pPr>
            <a:r>
              <a:t>Negócios e economia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3465576"/>
            <a:ext cx="3274285" cy="310896"/>
          </a:xfrm>
          <a:prstGeom prst="roundRect">
            <a:avLst>
              <a:gd name="adj" fmla="val 12000"/>
            </a:avLst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3429000"/>
            <a:ext cx="56692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32235"/>
                </a:solidFill>
                <a:latin typeface="Aptos"/>
              </a:defRPr>
            </a:pPr>
            <a:r>
              <a:t>0,249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429000"/>
            <a:ext cx="129844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96977"/>
                </a:solidFill>
                <a:latin typeface="Aptos"/>
              </a:defRPr>
            </a:pPr>
            <a:r>
              <a:t>n = 33 notícias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15383"/>
            <a:ext cx="281635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C2C3F"/>
                </a:solidFill>
                <a:latin typeface="Aptos"/>
              </a:defRPr>
            </a:pPr>
            <a:r>
              <a:t>Outros domínios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4251959"/>
            <a:ext cx="2854513" cy="310896"/>
          </a:xfrm>
          <a:prstGeom prst="roundRect">
            <a:avLst>
              <a:gd name="adj" fmla="val 12000"/>
            </a:avLst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4" y="4215383"/>
            <a:ext cx="56692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32235"/>
                </a:solidFill>
                <a:latin typeface="Aptos"/>
              </a:defRPr>
            </a:pPr>
            <a:r>
              <a:t>0,217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215383"/>
            <a:ext cx="129844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96977"/>
                </a:solidFill>
                <a:latin typeface="Aptos"/>
              </a:defRPr>
            </a:pPr>
            <a:r>
              <a:t>n = 3 notícias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276088"/>
            <a:ext cx="8860536" cy="704088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408676"/>
            <a:ext cx="8430768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 </a:t>
            </a:r>
            <a:r>
              <a:rPr dirty="0" err="1"/>
              <a:t>tiveram</a:t>
            </a:r>
            <a:r>
              <a:rPr dirty="0"/>
              <a:t>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que </a:t>
            </a:r>
            <a:r>
              <a:rPr dirty="0" err="1"/>
              <a:t>negócios</a:t>
            </a:r>
            <a:r>
              <a:rPr dirty="0"/>
              <a:t>. </a:t>
            </a:r>
            <a:r>
              <a:rPr dirty="0" err="1"/>
              <a:t>Meio</a:t>
            </a:r>
            <a:r>
              <a:rPr dirty="0"/>
              <a:t> </a:t>
            </a:r>
            <a:r>
              <a:rPr dirty="0" err="1"/>
              <a:t>ambiente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alto, mas </a:t>
            </a:r>
            <a:r>
              <a:rPr dirty="0" err="1"/>
              <a:t>contém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</a:t>
            </a:r>
            <a:r>
              <a:rPr dirty="0" err="1"/>
              <a:t>duas</a:t>
            </a:r>
            <a:r>
              <a:rPr dirty="0"/>
              <a:t> </a:t>
            </a:r>
            <a:r>
              <a:rPr dirty="0" err="1"/>
              <a:t>notícias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19" y="256032"/>
            <a:ext cx="1938095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b="1" smtClean="0">
                <a:solidFill>
                  <a:srgbClr val="006A70"/>
                </a:solidFill>
                <a:latin typeface="Aptos" panose="020B0604020202020204" pitchFamily="34" charset="0"/>
              </a:rPr>
              <a:t>RESULTADOS · EVOLUÇÃO</a:t>
            </a:r>
            <a:endParaRPr sz="11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19" y="566927"/>
            <a:ext cx="6886565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2000" b="1" smtClean="0">
                <a:solidFill>
                  <a:srgbClr val="12253D"/>
                </a:solidFill>
                <a:latin typeface="Aptos" panose="020B0604020202020204" pitchFamily="34" charset="0"/>
              </a:rPr>
              <a:t>Médias por posição: STDI contra o original e acumulado</a:t>
            </a:r>
            <a:endParaRPr sz="2000" b="1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166360" cy="1481328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45920"/>
            <a:ext cx="732636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POSIÇÃO 1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1665584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Primeira reescrita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1502078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STDI vs. original: 0,211
Acumulado: 0,211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0488" y="1481328"/>
            <a:ext cx="5166360" cy="1481328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645920"/>
            <a:ext cx="732636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POSIÇÃO 2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9944" y="1938528"/>
            <a:ext cx="1705660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Segunda reescrita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9944" y="2331720"/>
            <a:ext cx="1502078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STDI vs. original: 0,236
Acumulado: 0,402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355848"/>
            <a:ext cx="5166360" cy="1481328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732636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POSIÇÃO 3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3813048"/>
            <a:ext cx="1630446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Terceira reescrita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" y="4206240"/>
            <a:ext cx="1502078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STDI vs. original: 0,251
Acumulado: 0,589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0488" y="3355848"/>
            <a:ext cx="5166360" cy="1481328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3520440"/>
            <a:ext cx="732636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POSIÇÃO 4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9944" y="3813048"/>
            <a:ext cx="1514902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Quarta reescrita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9944" y="4206240"/>
            <a:ext cx="1502078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STDI vs. original: 0,256
Acumulado: 0,771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38501" y="5413248"/>
            <a:ext cx="4084516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Média: distância final 0,211 → 0,256; acumulado 0,211 → 0,771.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23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19" y="256032"/>
            <a:ext cx="1930080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b="1" smtClean="0">
                <a:solidFill>
                  <a:srgbClr val="006A70"/>
                </a:solidFill>
                <a:latin typeface="Aptos" panose="020B0604020202020204" pitchFamily="34" charset="0"/>
              </a:rPr>
              <a:t>RESULTADOS · EXTREMOS</a:t>
            </a:r>
            <a:endParaRPr sz="11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7"/>
            <a:ext cx="4324967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2000" b="1" smtClean="0">
                <a:solidFill>
                  <a:srgbClr val="12253D"/>
                </a:solidFill>
                <a:latin typeface="Aptos" panose="020B0604020202020204" pitchFamily="34" charset="0"/>
              </a:rPr>
              <a:t>Resultados extremos da simulação</a:t>
            </a:r>
            <a:endParaRPr sz="2000" b="1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319272" cy="3273552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990720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VERSÃO FINAL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1487651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Maior STDI final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" y="2999232"/>
            <a:ext cx="2587311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0,569 · CPMC, 4ª posição
Notícia sobre o mercado de serviços 5G.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5968" y="1618488"/>
            <a:ext cx="3319272" cy="3273552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1425134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PICO NA TRAJETÓRIA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2106410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Maior STDI vs. original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44568" y="2999232"/>
            <a:ext cx="2539221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0,667 · CPCP, 2ª posição
O domínio temático mudou na reescrita.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10144" y="1618488"/>
            <a:ext cx="3319272" cy="3273552"/>
          </a:xfrm>
          <a:prstGeom prst="roundRect">
            <a:avLst/>
          </a:prstGeom>
          <a:solidFill>
            <a:srgbClr val="FFF7E1"/>
          </a:solidFill>
          <a:ln w="12700">
            <a:solidFill>
              <a:srgbClr val="FFF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1874519"/>
            <a:ext cx="1529329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000" b="1" smtClean="0">
                <a:solidFill>
                  <a:srgbClr val="DF9F2B"/>
                </a:solidFill>
                <a:latin typeface="Aptos" panose="020B0604020202020204" pitchFamily="34" charset="0"/>
              </a:rPr>
              <a:t>CAMINHO ACUMULADO</a:t>
            </a:r>
            <a:endParaRPr sz="1000" b="1">
              <a:solidFill>
                <a:srgbClr val="DF9F2B"/>
              </a:solidFill>
              <a:latin typeface="Aptos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38744" y="2267712"/>
            <a:ext cx="2108013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500" b="1" smtClean="0">
                <a:solidFill>
                  <a:srgbClr val="006A70"/>
                </a:solidFill>
                <a:latin typeface="Aptos" panose="020B0604020202020204" pitchFamily="34" charset="0"/>
              </a:rPr>
              <a:t>Maior STDI cumulativo</a:t>
            </a:r>
            <a:endParaRPr sz="1500" b="1">
              <a:solidFill>
                <a:srgbClr val="006A70"/>
              </a:solidFill>
              <a:latin typeface="Aptos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1838708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1,771 · PCPC, 4ª posição
STDI final vs. original: 0,260.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89711" y="5376672"/>
            <a:ext cx="5782096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pt-BR" sz="1100" smtClean="0">
                <a:solidFill>
                  <a:srgbClr val="12253D"/>
                </a:solidFill>
                <a:latin typeface="Aptos" panose="020B0604020202020204" pitchFamily="34" charset="0"/>
              </a:rPr>
              <a:t>Os extremos exigem inspeção qualitativa; não demonstram efeito geral de uma perspectiva.</a:t>
            </a:r>
            <a:endParaRPr sz="1100">
              <a:solidFill>
                <a:srgbClr val="12253D"/>
              </a:solidFill>
              <a:latin typeface="Aptos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24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ANÁLISE QUALITATIVA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lang="pt-BR" sz="2000" b="1" smtClean="0">
                <a:latin typeface="Aptos" panose="020B0604020202020204" pitchFamily="34" charset="0"/>
              </a:rPr>
              <a:t>Uma trajetória contrasta distância final e caminho cumulativo.</a:t>
            </a:r>
            <a:endParaRPr sz="2000" b="1" dirty="0">
              <a:latin typeface="Aptos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25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3374136" cy="353872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935224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rPr lang="pt-BR" sz="1000" b="1" smtClean="0">
                <a:latin typeface="Aptos" panose="020B0604020202020204" pitchFamily="34" charset="0"/>
              </a:rPr>
              <a:t>CASO 1 · TEXTO ORIGINAL</a:t>
            </a:r>
            <a:endParaRPr sz="1000" b="1">
              <a:latin typeface="Aptos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2935224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lang="pt-BR" sz="1500" b="1" smtClean="0">
                <a:latin typeface="Aptos" panose="020B0604020202020204" pitchFamily="34" charset="0"/>
              </a:rPr>
              <a:t>$1.000 Dog Tax Credit</a:t>
            </a:r>
            <a:endParaRPr sz="1500" b="1">
              <a:latin typeface="Aptos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670048"/>
            <a:ext cx="2916936" cy="69557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lang="pt-BR" sz="1100" smtClean="0">
                <a:latin typeface="Aptos" panose="020B0604020202020204" pitchFamily="34" charset="0"/>
              </a:rPr>
              <a:t>Promoção de marca de ração durante a temporada de impostos. Não é crédito governamental: participantes concorrem a um sorteio até abril.</a:t>
            </a:r>
            <a:endParaRPr sz="1100">
              <a:latin typeface="Aptos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07408" y="1600200"/>
            <a:ext cx="3374136" cy="353872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764792"/>
            <a:ext cx="2935224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rPr lang="pt-BR" sz="1000" b="1" smtClean="0">
                <a:latin typeface="Aptos" panose="020B0604020202020204" pitchFamily="34" charset="0"/>
              </a:rPr>
              <a:t>CENÁRIO · SSSS</a:t>
            </a:r>
            <a:endParaRPr sz="1000" b="1">
              <a:latin typeface="Aptos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26864" y="2121408"/>
            <a:ext cx="2935224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lang="pt-BR" sz="1500" b="1" smtClean="0">
                <a:latin typeface="Aptos" panose="020B0604020202020204" pitchFamily="34" charset="0"/>
              </a:rPr>
              <a:t>Quatro reescritas céticas</a:t>
            </a:r>
            <a:endParaRPr sz="1500" b="1">
              <a:latin typeface="Aptos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6864" y="2670048"/>
            <a:ext cx="2916936" cy="52629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lang="pt-BR" sz="1100" smtClean="0">
                <a:latin typeface="Aptos" panose="020B0604020202020204" pitchFamily="34" charset="0"/>
              </a:rPr>
              <a:t>A cadeia esclarece que não há pagamento garantido. Mantém o domínio de negócios e reforça o alerta ao consumidor.</a:t>
            </a:r>
            <a:endParaRPr sz="1100">
              <a:latin typeface="Aptos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01583" y="1600200"/>
            <a:ext cx="3374136" cy="353872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64792"/>
            <a:ext cx="2935224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rPr lang="pt-BR" sz="1000" b="1" smtClean="0">
                <a:latin typeface="Aptos" panose="020B0604020202020204" pitchFamily="34" charset="0"/>
              </a:rPr>
              <a:t>VERSÃO FINAL · 4ª REESCRITA</a:t>
            </a:r>
            <a:endParaRPr sz="1000" b="1">
              <a:latin typeface="Aptos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2121408"/>
            <a:ext cx="2935224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rPr lang="pt-BR" sz="1500" b="1" smtClean="0">
                <a:latin typeface="Aptos" panose="020B0604020202020204" pitchFamily="34" charset="0"/>
              </a:rPr>
              <a:t>Texto final (trecho)</a:t>
            </a:r>
            <a:endParaRPr sz="1500" b="1">
              <a:latin typeface="Aptos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2670048"/>
            <a:ext cx="2916936" cy="11418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rPr lang="en-US" sz="900" smtClean="0">
                <a:latin typeface="Aptos" panose="020B0604020202020204" pitchFamily="34" charset="0"/>
              </a:rPr>
              <a:t>The $1,000 Dog Tax Credit promotion may draw attention during tax season, but its wording could leave a misleading impression. It is not a government tax credit, but a limited-time sweepstakes offered by a pet food brand.
STDI final vs. original: 0,376 / Acumulado: 0,923</a:t>
            </a:r>
            <a:endParaRPr sz="900">
              <a:latin typeface="Aptos" panose="020B060402020202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8096" y="5468112"/>
            <a:ext cx="10643616" cy="539496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5605272"/>
            <a:ext cx="10168128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rPr lang="pt-BR" sz="1100" smtClean="0">
                <a:latin typeface="Aptos" panose="020B0604020202020204" pitchFamily="34" charset="0"/>
              </a:rPr>
              <a:t>Exemplo SSSS, 4ª posição. A pontuação descreve mudança textual; não determina veracidade factual.</a:t>
            </a:r>
            <a:endParaRPr sz="1100"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LIMITAÇÕES E AMEAÇAS À VALIDADE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1073384" cy="91101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rPr dirty="0"/>
              <a:t>As </a:t>
            </a:r>
            <a:r>
              <a:rPr dirty="0" err="1"/>
              <a:t>conclusões</a:t>
            </a:r>
            <a:r>
              <a:rPr dirty="0"/>
              <a:t> </a:t>
            </a:r>
            <a:r>
              <a:rPr dirty="0" err="1"/>
              <a:t>dependem</a:t>
            </a:r>
            <a:r>
              <a:rPr dirty="0"/>
              <a:t> do corpus, dos </a:t>
            </a:r>
            <a:r>
              <a:rPr dirty="0" err="1"/>
              <a:t>modelos</a:t>
            </a:r>
            <a:r>
              <a:rPr dirty="0"/>
              <a:t> e da </a:t>
            </a:r>
            <a:r>
              <a:rPr dirty="0" err="1"/>
              <a:t>própria</a:t>
            </a:r>
            <a:r>
              <a:rPr dirty="0"/>
              <a:t> </a:t>
            </a:r>
            <a:r>
              <a:rPr dirty="0" err="1"/>
              <a:t>medida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26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32180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73152" cy="1682496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892808"/>
            <a:ext cx="4910328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Validade externa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96312"/>
            <a:ext cx="4846320" cy="7498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50 notícias em inglês, com forte concentração em negócios.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691640"/>
            <a:ext cx="532180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691640"/>
            <a:ext cx="73152" cy="1682496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892808"/>
            <a:ext cx="4910328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Validade de construção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496312"/>
            <a:ext cx="4846320" cy="7498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STDI mede deriva textual; não certifica verdade nem impacto sobre leitores.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57600"/>
            <a:ext cx="532180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657600"/>
            <a:ext cx="73152" cy="1682496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858768"/>
            <a:ext cx="4910328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Dependência de modelos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462272"/>
            <a:ext cx="4846320" cy="7498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Extração estrutural, embeddings e VAD dependem de versões específicas.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3657600"/>
            <a:ext cx="532180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5936" y="3657600"/>
            <a:ext cx="73152" cy="1682496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3858768"/>
            <a:ext cx="4910328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Desenho estatístico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4462272"/>
            <a:ext cx="4846320" cy="7498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 mesma notícia aparece em vários cenários; comparações devem ser pareadas.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Síntese dos resultados atuais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27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773936"/>
            <a:ext cx="5330952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773936"/>
            <a:ext cx="73152" cy="175564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75104"/>
            <a:ext cx="49194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1  Medida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78608"/>
            <a:ext cx="4855464" cy="8229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O STDI descreve mudanças de conteúdo, contradição interna e afeto entre versões.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773936"/>
            <a:ext cx="5330952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6792" y="1773936"/>
            <a:ext cx="73152" cy="175564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49194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2  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78608"/>
            <a:ext cx="4855464" cy="8229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 regressão encontrou sinal sobretudo em arousal; extensão do texto exige controle.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22191"/>
            <a:ext cx="5330952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822191"/>
            <a:ext cx="73152" cy="175564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023359"/>
            <a:ext cx="49194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3  Perspectivas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626864"/>
            <a:ext cx="4855464" cy="8229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As médias diferem entre cenários, mas os efeitos pareados de ordem ainda são incertos.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822191"/>
            <a:ext cx="5330952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36792" y="3822191"/>
            <a:ext cx="73152" cy="1755648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4023359"/>
            <a:ext cx="4919472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4  Domínios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26864"/>
            <a:ext cx="4855464" cy="8229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Políticas públicas tiveram maior deriva média que negócios; grupos pequenos pedem cautela.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852160"/>
            <a:ext cx="10680192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D4D43"/>
                </a:solidFill>
                <a:latin typeface="Aptos"/>
              </a:defRPr>
            </a:pPr>
            <a:r>
              <a:t>Estado atual: os resultados são exploratórios; atualizar somente se a execução final alterar os números ou a análise qualitativa.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RESPOSTA À PERGUNTA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Conclusão e contribuições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28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618488"/>
            <a:ext cx="5522976" cy="3575304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5084064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D4D43"/>
                </a:solidFill>
                <a:latin typeface="Aptos"/>
              </a:defRPr>
            </a:pPr>
            <a:r>
              <a:t>Resposta baseada nos resultados atuais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5084064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32235"/>
                </a:solidFill>
                <a:latin typeface="Aptos"/>
              </a:defRPr>
            </a:pPr>
            <a:r>
              <a:t>Conclusão provisória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88336"/>
            <a:ext cx="5065776" cy="23408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Nas cadeias avaliadas, os cenários apresentaram médias de STDI diferentes, mas o maior contraste de ordem (CPCP − PCPC = +0,023) permaneceu incerto.
As médias também variaram por domínio, com grupos pequenos. Os resultados descrevem associações; não demonstram causalidade nem veracidade factual.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4808" y="1618488"/>
            <a:ext cx="4992624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64808" y="1618488"/>
            <a:ext cx="73152" cy="3575304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819656"/>
            <a:ext cx="4581144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32235"/>
                </a:solidFill>
                <a:latin typeface="Aptos"/>
              </a:defRPr>
            </a:pPr>
            <a:r>
              <a:t>Contribuições do 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423160"/>
            <a:ext cx="4517136" cy="2642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1. STDI como medida estruturada e interpretável.
2. Pipeline reprodutível de reescrita e análise.
3. Desenho pareado de cadeias com diferentes perspectivas.
4. Diagnóstico exploratório de conteúdo, afeto, ordem e domínio.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5532120"/>
            <a:ext cx="10643616" cy="56692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5669280"/>
            <a:ext cx="10168128" cy="35661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Deriva mensurável não é sinônimo de falsidade.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Fontes e normas consultadas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29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1627632"/>
            <a:ext cx="10652760" cy="79552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Lazer et al. (2018). The Science of Fake News. Science.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51176"/>
            <a:ext cx="10652760" cy="10698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Entman (1993). Framing: Toward Clarification of a Fractured Paradigm. Journal of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58768"/>
            <a:ext cx="10652760" cy="6949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C2C3F"/>
                </a:solidFill>
                <a:latin typeface="Aptos"/>
              </a:defRPr>
            </a:pPr>
            <a:r>
              <a:t>Mohamed et al. (2025). LLM as a Broken Telephone: Iterative Generation Distorts Information. ACL 2025.
Liu et al. (2025). The Stepwise Deception. EMNLP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82312"/>
            <a:ext cx="10652760" cy="6217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777F"/>
                </a:solidFill>
                <a:latin typeface="Aptos"/>
              </a:defRPr>
            </a:pPr>
            <a:r>
              <a:t>Reimers &amp; Gurevych (2019). Sentence-BERT. EMNLP-IJCNLP.
Buechel &amp; Hahn (2017). EmoBank. EACL.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652760" cy="4297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Demais referências: Chuang et al. (2024); Su, Cardie &amp; Nakov (2024); Mohammad (2018); Chen et al. (2025); Abdurahman et al. (2025).
Base completa: references.bib.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85800"/>
            <a:ext cx="109728" cy="5358384"/>
          </a:xfrm>
          <a:prstGeom prst="rect">
            <a:avLst/>
          </a:prstGeom>
          <a:solidFill>
            <a:srgbClr val="DA9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014984"/>
            <a:ext cx="9875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0F3F2"/>
                </a:solidFill>
                <a:latin typeface="Aptos"/>
              </a:defRPr>
            </a:pPr>
            <a:r>
              <a:t>MATERIAL PARA ARGUIÇÃO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11095"/>
            <a:ext cx="9875520" cy="8321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Slides de apoio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154680"/>
            <a:ext cx="9509760" cy="6583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E0F3F2"/>
                </a:solidFill>
                <a:latin typeface="Aptos"/>
              </a:defRPr>
            </a:pPr>
            <a:r>
              <a:t>Detalhes técnicos, cenários, sensibilidade e exemplos adicionais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30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77F"/>
                </a:solidFill>
                <a:latin typeface="Aptos"/>
              </a:defRPr>
            </a:pPr>
            <a:r>
              <a:t>APOIO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7863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32235"/>
                </a:solidFill>
                <a:latin typeface="Aptos"/>
              </a:defRPr>
            </a:pPr>
            <a:r>
              <a:t>Modelos e função no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373368"/>
            <a:ext cx="10972800" cy="10972"/>
          </a:xfrm>
          <a:prstGeom prst="rect">
            <a:avLst/>
          </a:prstGeom>
          <a:solidFill>
            <a:srgbClr val="D9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3112" y="6437376"/>
            <a:ext cx="41148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6977"/>
                </a:solidFill>
                <a:latin typeface="Aptos"/>
              </a:defRPr>
            </a:pPr>
            <a:r>
              <a:rPr lang="pt-BR" sz="1000" smtClean="0">
                <a:latin typeface="Aptos" panose="020B0604020202020204" pitchFamily="34" charset="0"/>
              </a:rPr>
              <a:t>31</a:t>
            </a:r>
            <a:endParaRPr sz="1000">
              <a:latin typeface="Aptos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291840" cy="630936"/>
          </a:xfrm>
          <a:prstGeom prst="roundRect">
            <a:avLst>
              <a:gd name="adj" fmla="val 12000"/>
            </a:avLst>
          </a:prstGeom>
          <a:solidFill>
            <a:srgbClr val="E0F3F2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8803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gpt-5.6-luna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64792"/>
            <a:ext cx="660196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reescrita e extração estrutural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41448"/>
            <a:ext cx="3291840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596896"/>
            <a:ext cx="28803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Fake-News-Bert-Detect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596896"/>
            <a:ext cx="660196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classificação isolada falsa/verdadeira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73552"/>
            <a:ext cx="3291840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429000"/>
            <a:ext cx="28803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mDeBERTa MNLI/XNLI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429000"/>
            <a:ext cx="660196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consistência entre original e reescrita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05656"/>
            <a:ext cx="3291840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261104"/>
            <a:ext cx="28803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vad-bert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4261104"/>
            <a:ext cx="660196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valência, arousal e dominância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3291840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093208"/>
            <a:ext cx="28803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32235"/>
                </a:solidFill>
                <a:latin typeface="Aptos"/>
              </a:defRPr>
            </a:pPr>
            <a:r>
              <a:t>all-MiniLM-L6-v2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5093208"/>
            <a:ext cx="660196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C2C3F"/>
                </a:solidFill>
                <a:latin typeface="Aptos"/>
              </a:defRPr>
            </a:pPr>
            <a:r>
              <a:t>embeddings para comparação estrutural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91272" y="5404104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 w="12700">
            <a:solidFill>
              <a:srgbClr val="DA9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7" y="5596128"/>
            <a:ext cx="3099816" cy="3749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D4D43"/>
                </a:solidFill>
                <a:latin typeface="Aptos"/>
              </a:defRPr>
            </a:pPr>
            <a:r>
              <a:t>A PREENCHER — registrar revisão, parâmetros e data de cada execução.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A70"/>
                </a:solidFill>
                <a:latin typeface="Aptos"/>
              </a:rPr>
              <a:t>APOIO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Os 16 cenários formam contrastes planejados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9164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Referência e homogêneos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SSSS
CCCC · PPPP · DDDD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8132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169164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Perspectivas C/P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139696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CCPP ↔ PPCC
CPCP ↔ PCPC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5584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356616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Perspectivas D/S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14215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DDSS ↔ SSDD
DSDS ↔ SDSD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35584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56616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Posição de E e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14215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DDES ↔ DDSE
CMPC ↔ CPMC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330952"/>
            <a:ext cx="10698480" cy="530352"/>
          </a:xfrm>
          <a:prstGeom prst="rect">
            <a:avLst/>
          </a:prstGeom>
          <a:solidFill>
            <a:srgbClr val="E2F4F4"/>
          </a:solidFill>
          <a:ln w="12700">
            <a:solidFill>
              <a:srgbClr val="E2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477256"/>
            <a:ext cx="10314432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12253D"/>
                </a:solidFill>
                <a:latin typeface="Aptos"/>
              </a:rPr>
              <a:t>C: conservadora · P: progressista · D: conspiratória · S: cética · E: emocional · M: conciliatória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32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A70"/>
                </a:solidFill>
                <a:latin typeface="Aptos"/>
              </a:rPr>
              <a:t>APOIO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Experimento TF-IDF: forte sinal lexical, interpretação cautelosa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9164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Testar se termos e expressões diferenciam
os grupos de referência.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8132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169164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Representação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139696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TF-IDF de unigramas e bigramas
até 10.000 atributos · min_df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5584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356616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Mesmo teste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14215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Regressão logística
750 treino · 250 teste
holdout separado por notícia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355848"/>
            <a:ext cx="51663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566160"/>
            <a:ext cx="47091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06A70"/>
                </a:solidFill>
                <a:latin typeface="Aptos"/>
              </a:rPr>
              <a:t>Resultado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14215"/>
            <a:ext cx="470916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53D"/>
                </a:solidFill>
                <a:latin typeface="Aptos"/>
              </a:rPr>
              <a:t>AUC-ROC
STDI: 0,921 · TF-IDF: 1,000
STDI + TF-IDF: 0,980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33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A70"/>
                </a:solidFill>
                <a:latin typeface="Aptos"/>
              </a:rPr>
              <a:t>APOIO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09960" cy="7132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53D"/>
                </a:solidFill>
                <a:latin typeface="Aptos"/>
              </a:rPr>
              <a:t>Exemplos de n-gramas mais influentes no TF-IDF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C6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98891" y="6556248"/>
            <a:ext cx="177997" cy="1908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lang="pt-BR" sz="1000" smtClean="0">
                <a:solidFill>
                  <a:srgbClr val="546678"/>
                </a:solidFill>
                <a:latin typeface="Aptos" panose="020B0604020202020204" pitchFamily="34" charset="0"/>
              </a:rPr>
              <a:t>34</a:t>
            </a:r>
            <a:endParaRPr sz="1000">
              <a:solidFill>
                <a:srgbClr val="546678"/>
              </a:solidFill>
              <a:latin typeface="Aptos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5394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645920"/>
            <a:ext cx="4956048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06A70"/>
                </a:solidFill>
                <a:latin typeface="Aptos"/>
              </a:rPr>
              <a:t>N-gramas com coeficiente positivo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834640"/>
            <a:ext cx="4773168" cy="10058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12253D"/>
                </a:solidFill>
                <a:latin typeface="Aptos"/>
              </a:rPr>
              <a:t>criticism · criticized
2017 · had · did not</a:t>
            </a:r>
          </a:p>
        </p:txBody>
      </p:sp>
      <p:sp>
        <p:nvSpPr>
          <p:cNvPr id="6" name="Rounded Rectangle 6"/>
          <p:cNvSpPr/>
          <p:nvPr/>
        </p:nvSpPr>
        <p:spPr>
          <a:xfrm>
            <a:off x="6172200" y="1444752"/>
            <a:ext cx="5394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7"/>
          <p:cNvSpPr txBox="1"/>
          <p:nvPr/>
        </p:nvSpPr>
        <p:spPr>
          <a:xfrm>
            <a:off x="6391656" y="1645920"/>
            <a:ext cx="4956048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06A70"/>
                </a:solidFill>
                <a:latin typeface="Aptos"/>
              </a:rPr>
              <a:t>N-gramas com coeficiente negativo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6483096" y="2834640"/>
            <a:ext cx="4773168" cy="10058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12253D"/>
                </a:solidFill>
                <a:latin typeface="Aptos"/>
              </a:rPr>
              <a:t>is · this · just
via · even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ptos"/>
        <a:font script="Hebr" typeface="Apto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ptos"/>
        <a:font script="Hebr" typeface="Apto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2856</Words>
  <Application>Microsoft Office PowerPoint</Application>
  <PresentationFormat>Ecrã Panorâmico</PresentationFormat>
  <Paragraphs>525</Paragraphs>
  <Slides>34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34</vt:i4>
      </vt:variant>
    </vt:vector>
  </HeadingPairs>
  <TitlesOfParts>
    <vt:vector size="38" baseType="lpstr">
      <vt:lpstr>Aptos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Luiz Cláudio Vieria Filho</cp:lastModifiedBy>
  <cp:revision>18</cp:revision>
  <dcterms:created xsi:type="dcterms:W3CDTF">2013-01-27T09:14:16Z</dcterms:created>
  <dcterms:modified xsi:type="dcterms:W3CDTF">2026-09-29T03:48:26Z</dcterms:modified>
  <cp:category/>
</cp:coreProperties>
</file>