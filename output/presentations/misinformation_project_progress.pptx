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8591e149324894" /><Relationship Type="http://schemas.openxmlformats.org/officeDocument/2006/relationships/extended-properties" Target="/docProps/app.xml" Id="R49b3e489fde44238" /><Relationship Type="http://schemas.openxmlformats.org/officeDocument/2006/relationships/officeDocument" Target="/ppt/presentation.xml" Id="R9255c17addba44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2d839bc5674dab"/>
  </p:sldMasterIdLst>
  <p:notesMasterIdLst>
    <p:notesMasterId xmlns:r="http://schemas.openxmlformats.org/officeDocument/2006/relationships" r:id="R731fce37482e4ad4"/>
  </p:notesMasterIdLst>
  <p:sldIdLst>
    <p:sldId xmlns:r="http://schemas.openxmlformats.org/officeDocument/2006/relationships" id="256" r:id="R0318edb41cf24922"/>
    <p:sldId xmlns:r="http://schemas.openxmlformats.org/officeDocument/2006/relationships" id="257" r:id="Rc3a08e583018429a"/>
    <p:sldId xmlns:r="http://schemas.openxmlformats.org/officeDocument/2006/relationships" id="258" r:id="Rc854228fb0dc4f94"/>
    <p:sldId xmlns:r="http://schemas.openxmlformats.org/officeDocument/2006/relationships" id="259" r:id="R3758b0f6ef7c4b0a"/>
    <p:sldId xmlns:r="http://schemas.openxmlformats.org/officeDocument/2006/relationships" id="260" r:id="R1aa2bb07cc3f4190"/>
    <p:sldId xmlns:r="http://schemas.openxmlformats.org/officeDocument/2006/relationships" id="261" r:id="Rc4c40f22e8c7425f"/>
    <p:sldId xmlns:r="http://schemas.openxmlformats.org/officeDocument/2006/relationships" id="262" r:id="R13457c3603ad47b4"/>
    <p:sldId xmlns:r="http://schemas.openxmlformats.org/officeDocument/2006/relationships" id="263" r:id="R1970ff1af1dc49b0"/>
    <p:sldId xmlns:r="http://schemas.openxmlformats.org/officeDocument/2006/relationships" id="264" r:id="R90d7685ca2c943f1"/>
    <p:sldId xmlns:r="http://schemas.openxmlformats.org/officeDocument/2006/relationships" id="265" r:id="Rbe29c0197801415a"/>
    <p:sldId xmlns:r="http://schemas.openxmlformats.org/officeDocument/2006/relationships" id="266" r:id="R6605441ec8b94534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2d839bc5674dab" /><Relationship Type="http://schemas.openxmlformats.org/officeDocument/2006/relationships/theme" Target="/ppt/theme/theme1.xml" Id="R01ebff6a637f4249" /><Relationship Type="http://schemas.openxmlformats.org/officeDocument/2006/relationships/notesMaster" Target="/ppt/notesMasters/notesMaster1.xml" Id="R731fce37482e4ad4" /><Relationship Type="http://schemas.openxmlformats.org/officeDocument/2006/relationships/presProps" Target="/ppt/presProps.xml" Id="R2077929d63a84221" /><Relationship Type="http://schemas.openxmlformats.org/officeDocument/2006/relationships/viewProps" Target="/ppt/viewProps.xml" Id="R63c32dff659b4d4f" /><Relationship Type="http://schemas.openxmlformats.org/officeDocument/2006/relationships/tableStyles" Target="/ppt/tableStyles.xml" Id="R4db0bbabbda848c8" /><Relationship Type="http://schemas.openxmlformats.org/officeDocument/2006/relationships/slide" Target="/ppt/slides/slide1.xml" Id="R0318edb41cf24922" /><Relationship Type="http://schemas.openxmlformats.org/officeDocument/2006/relationships/slide" Target="/ppt/slides/slide2.xml" Id="Rc3a08e583018429a" /><Relationship Type="http://schemas.openxmlformats.org/officeDocument/2006/relationships/slide" Target="/ppt/slides/slide3.xml" Id="Rc854228fb0dc4f94" /><Relationship Type="http://schemas.openxmlformats.org/officeDocument/2006/relationships/slide" Target="/ppt/slides/slide4.xml" Id="R3758b0f6ef7c4b0a" /><Relationship Type="http://schemas.openxmlformats.org/officeDocument/2006/relationships/slide" Target="/ppt/slides/slide5.xml" Id="R1aa2bb07cc3f4190" /><Relationship Type="http://schemas.openxmlformats.org/officeDocument/2006/relationships/slide" Target="/ppt/slides/slide6.xml" Id="Rc4c40f22e8c7425f" /><Relationship Type="http://schemas.openxmlformats.org/officeDocument/2006/relationships/slide" Target="/ppt/slides/slide7.xml" Id="R13457c3603ad47b4" /><Relationship Type="http://schemas.openxmlformats.org/officeDocument/2006/relationships/slide" Target="/ppt/slides/slide8.xml" Id="R1970ff1af1dc49b0" /><Relationship Type="http://schemas.openxmlformats.org/officeDocument/2006/relationships/slide" Target="/ppt/slides/slide9.xml" Id="R90d7685ca2c943f1" /><Relationship Type="http://schemas.openxmlformats.org/officeDocument/2006/relationships/slide" Target="/ppt/slides/slide10.xml" Id="Rbe29c0197801415a" /><Relationship Type="http://schemas.openxmlformats.org/officeDocument/2006/relationships/slide" Target="/ppt/slides/slide11.xml" Id="R6605441ec8b945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c902488178f49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8accb78d12493e" /><Relationship Type="http://schemas.openxmlformats.org/officeDocument/2006/relationships/notesMaster" Target="/ppt/notesMasters/notesMaster1.xml" Id="R645b74d161fe4e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0fa8270a0346fd" /><Relationship Type="http://schemas.openxmlformats.org/officeDocument/2006/relationships/notesMaster" Target="/ppt/notesMasters/notesMaster1.xml" Id="R44a50f00bed54b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8433de6bbe4882" /><Relationship Type="http://schemas.openxmlformats.org/officeDocument/2006/relationships/notesMaster" Target="/ppt/notesMasters/notesMaster1.xml" Id="R2426093b43b146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4b430626734774" /><Relationship Type="http://schemas.openxmlformats.org/officeDocument/2006/relationships/notesMaster" Target="/ppt/notesMasters/notesMaster1.xml" Id="Raee3c3cc86c64f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52b6964ef94050" /><Relationship Type="http://schemas.openxmlformats.org/officeDocument/2006/relationships/notesMaster" Target="/ppt/notesMasters/notesMaster1.xml" Id="Rb9c9a35da3a04f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0206d0b6854467" /><Relationship Type="http://schemas.openxmlformats.org/officeDocument/2006/relationships/notesMaster" Target="/ppt/notesMasters/notesMaster1.xml" Id="R29a112fe7f2a46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7487072fc74d39" /><Relationship Type="http://schemas.openxmlformats.org/officeDocument/2006/relationships/notesMaster" Target="/ppt/notesMasters/notesMaster1.xml" Id="Rec47f6d3baf44f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043738ad5a4e35" /><Relationship Type="http://schemas.openxmlformats.org/officeDocument/2006/relationships/notesMaster" Target="/ppt/notesMasters/notesMaster1.xml" Id="R5c10d71e72814b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ef00ff511949f7" /><Relationship Type="http://schemas.openxmlformats.org/officeDocument/2006/relationships/notesMaster" Target="/ppt/notesMasters/notesMaster1.xml" Id="R6b713f5796d944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a8dcf958eb4c6d" /><Relationship Type="http://schemas.openxmlformats.org/officeDocument/2006/relationships/notesMaster" Target="/ppt/notesMasters/notesMaster1.xml" Id="R73f2bb8570994e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6dc890111b4c00" /><Relationship Type="http://schemas.openxmlformats.org/officeDocument/2006/relationships/notesMaster" Target="/ppt/notesMasters/notesMaster1.xml" Id="Raa266ab1145042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7516c3987c4b4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9841d7af29f4736" /><Relationship Type="http://schemas.openxmlformats.org/officeDocument/2006/relationships/slideLayout" Target="/ppt/slideLayouts/slideLayout2.xml" Id="R01f6902618844f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f6902618844f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1a7342e46e4012" /><Relationship Type="http://schemas.openxmlformats.org/officeDocument/2006/relationships/notesSlide" Target="/ppt/notesSlides/notesSlide1.xml" Id="Rcf3a113ca0db45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9e9f437f2441f0" /><Relationship Type="http://schemas.openxmlformats.org/officeDocument/2006/relationships/notesSlide" Target="/ppt/notesSlides/notesSlide2.xml" Id="R4dfda11176e048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620891b7564030" /><Relationship Type="http://schemas.openxmlformats.org/officeDocument/2006/relationships/notesSlide" Target="/ppt/notesSlides/notesSlide3.xml" Id="R20135e1493264c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0ea4d361664829" /><Relationship Type="http://schemas.openxmlformats.org/officeDocument/2006/relationships/notesSlide" Target="/ppt/notesSlides/notesSlide4.xml" Id="R87d466b7a2a74f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ee33c9665b4005" /><Relationship Type="http://schemas.openxmlformats.org/officeDocument/2006/relationships/notesSlide" Target="/ppt/notesSlides/notesSlide5.xml" Id="Rf53e3753da064b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4c9a137f1045b4" /><Relationship Type="http://schemas.openxmlformats.org/officeDocument/2006/relationships/notesSlide" Target="/ppt/notesSlides/notesSlide6.xml" Id="R4d11b62b24f64b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1d810b6a554787" /><Relationship Type="http://schemas.openxmlformats.org/officeDocument/2006/relationships/notesSlide" Target="/ppt/notesSlides/notesSlide7.xml" Id="R4d8a1e449a7040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c9bb222876453b" /><Relationship Type="http://schemas.openxmlformats.org/officeDocument/2006/relationships/notesSlide" Target="/ppt/notesSlides/notesSlide8.xml" Id="Rb01979aa7b3f45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017035ff0346bb" /><Relationship Type="http://schemas.openxmlformats.org/officeDocument/2006/relationships/notesSlide" Target="/ppt/notesSlides/notesSlide9.xml" Id="R7df204b193414e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0f54de1c33412e" /><Relationship Type="http://schemas.openxmlformats.org/officeDocument/2006/relationships/notesSlide" Target="/ppt/notesSlides/notesSlide10.xml" Id="Rba7ba74996b444c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ac27a0109d4637" /><Relationship Type="http://schemas.openxmlformats.org/officeDocument/2006/relationships/notesSlide" Target="/ppt/notesSlides/notesSlide11.xml" Id="R5342f578d900495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bg">
            <a:extLst xmlns:a="http://schemas.openxmlformats.org/drawingml/2006/main">
              <a:ext uri="{FF2B5EF4-FFF2-40B4-BE49-F238E27FC236}">
                <a16:creationId xmlns:a16="http://schemas.microsoft.com/office/drawing/2014/main" id="{DD88BC2D-0024-42F7-A8CE-62263449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6"/>
          </a:solidFill>
          <a:ln xmlns:a="http://schemas.openxmlformats.org/drawingml/2006/main" w="0">
            <a:solidFill>
              <a:srgbClr val="132126"/>
            </a:solidFill>
            <a:prstDash val="solid"/>
          </a:ln>
        </p:spPr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F9745E1-9C51-44BB-92F1-E726DCE9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815340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F7F4EE"/>
                </a:solidFill>
              </a:defRPr>
            </a:pPr>
            <a:r>
              <a:rPr sz="6150" b="1">
                <a:solidFill>
                  <a:srgbClr val="F7F4EE"/>
                </a:solidFill>
              </a:rPr>
              <a:t>Da reescrita ao índice de desinformação</a:t>
            </a:r>
          </a:p>
        </p:txBody>
      </p:sp>
      <p:sp>
        <p:nvSpPr>
          <p:cNvPr id="3" name="cover-rule">
            <a:extLst xmlns:a="http://schemas.openxmlformats.org/drawingml/2006/main">
              <a:ext uri="{FF2B5EF4-FFF2-40B4-BE49-F238E27FC236}">
                <a16:creationId xmlns:a16="http://schemas.microsoft.com/office/drawing/2014/main" id="{E4E63B1E-2E7B-46C6-936D-31669450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975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B2D"/>
          </a:solidFill>
          <a:ln xmlns:a="http://schemas.openxmlformats.org/drawingml/2006/main" w="0">
            <a:solidFill>
              <a:srgbClr val="D69B2D"/>
            </a:solidFill>
            <a:prstDash val="solid"/>
          </a:ln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6E4A015-71BF-4254-ABD3-966A8C7C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62650"/>
            <a:ext cx="6648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C9D4D1"/>
                </a:solidFill>
              </a:defRPr>
            </a:pPr>
            <a:r>
              <a:rPr sz="2100">
                <a:solidFill>
                  <a:srgbClr val="C9D4D1"/>
                </a:solidFill>
              </a:rPr>
              <a:t>Relato do desenvolvimento: hipóteses iniciais, auditorias com BERT, STDI, VAD e simulação em grafo.</a:t>
            </a:r>
          </a:p>
        </p:txBody>
      </p:sp>
      <p:sp>
        <p:nvSpPr>
          <p:cNvPr id="5" name="pill-notícia-original">
            <a:extLst xmlns:a="http://schemas.openxmlformats.org/drawingml/2006/main">
              <a:ext uri="{FF2B5EF4-FFF2-40B4-BE49-F238E27FC236}">
                <a16:creationId xmlns:a16="http://schemas.microsoft.com/office/drawing/2014/main" id="{6B5E986B-6338-4887-AE74-86759AA8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6772" y="4057650"/>
            <a:ext cx="2381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260"/>
          </a:solidFill>
          <a:ln xmlns:a="http://schemas.openxmlformats.org/drawingml/2006/main" w="0">
            <a:solidFill>
              <a:srgbClr val="2772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F874E-A614-4411-B32E-18CCD204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71950"/>
            <a:ext cx="2057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notícia original</a:t>
            </a:r>
          </a:p>
        </p:txBody>
      </p:sp>
      <p:sp>
        <p:nvSpPr>
          <p:cNvPr id="7" name="pill-personalidade">
            <a:extLst xmlns:a="http://schemas.openxmlformats.org/drawingml/2006/main">
              <a:ext uri="{FF2B5EF4-FFF2-40B4-BE49-F238E27FC236}">
                <a16:creationId xmlns:a16="http://schemas.microsoft.com/office/drawing/2014/main" id="{82B63654-E91F-4C01-B942-AA95ECB6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7572" y="4057650"/>
            <a:ext cx="2381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4D78"/>
          </a:solidFill>
          <a:ln xmlns:a="http://schemas.openxmlformats.org/drawingml/2006/main" w="0">
            <a:solidFill>
              <a:srgbClr val="684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8376A-F914-4906-8AA2-84C7AFCD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4171950"/>
            <a:ext cx="2057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personalidade</a:t>
            </a:r>
          </a:p>
        </p:txBody>
      </p:sp>
      <p:sp>
        <p:nvSpPr>
          <p:cNvPr id="9" name="cover-path-1">
            <a:extLst xmlns:a="http://schemas.openxmlformats.org/drawingml/2006/main">
              <a:ext uri="{FF2B5EF4-FFF2-40B4-BE49-F238E27FC236}">
                <a16:creationId xmlns:a16="http://schemas.microsoft.com/office/drawing/2014/main" id="{164745DC-32FC-4D04-A3C0-DC92B406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686300"/>
            <a:ext cx="723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C7E"/>
          </a:solidFill>
          <a:ln xmlns:a="http://schemas.openxmlformats.org/drawingml/2006/main" w="0">
            <a:solidFill>
              <a:srgbClr val="6B7C7E"/>
            </a:solidFill>
            <a:prstDash val="solid"/>
          </a:ln>
        </p:spPr>
      </p:sp>
      <p:sp>
        <p:nvSpPr>
          <p:cNvPr id="10" name="pill-reescrita">
            <a:extLst xmlns:a="http://schemas.openxmlformats.org/drawingml/2006/main">
              <a:ext uri="{FF2B5EF4-FFF2-40B4-BE49-F238E27FC236}">
                <a16:creationId xmlns:a16="http://schemas.microsoft.com/office/drawing/2014/main" id="{97BCD4EA-F983-4DBD-AE62-0AEC0FDF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6772" y="4943475"/>
            <a:ext cx="2381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8992"/>
          </a:solidFill>
          <a:ln xmlns:a="http://schemas.openxmlformats.org/drawingml/2006/main" w="0">
            <a:solidFill>
              <a:srgbClr val="1B899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71828E-5AE2-4692-9CFF-EE627999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048250"/>
            <a:ext cx="2057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reescrita</a:t>
            </a:r>
          </a:p>
        </p:txBody>
      </p:sp>
      <p:sp>
        <p:nvSpPr>
          <p:cNvPr id="12" name="pill-drift-semântico">
            <a:extLst xmlns:a="http://schemas.openxmlformats.org/drawingml/2006/main">
              <a:ext uri="{FF2B5EF4-FFF2-40B4-BE49-F238E27FC236}">
                <a16:creationId xmlns:a16="http://schemas.microsoft.com/office/drawing/2014/main" id="{DEDDAC9A-2D6C-439F-8658-99F4348A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7572" y="4943475"/>
            <a:ext cx="2381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A0"/>
          </a:solidFill>
          <a:ln xmlns:a="http://schemas.openxmlformats.org/drawingml/2006/main" w="0">
            <a:solidFill>
              <a:srgbClr val="356AA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3B9B43-ECD3-4CFF-B42C-92153CB6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5048250"/>
            <a:ext cx="2057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drift semântico</a:t>
            </a:r>
          </a:p>
        </p:txBody>
      </p:sp>
      <p:sp>
        <p:nvSpPr>
          <p:cNvPr id="14" name="cover-path-2">
            <a:extLst xmlns:a="http://schemas.openxmlformats.org/drawingml/2006/main">
              <a:ext uri="{FF2B5EF4-FFF2-40B4-BE49-F238E27FC236}">
                <a16:creationId xmlns:a16="http://schemas.microsoft.com/office/drawing/2014/main" id="{4D19290C-AB18-4734-B507-656E7655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581650"/>
            <a:ext cx="723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C7E"/>
          </a:solidFill>
          <a:ln xmlns:a="http://schemas.openxmlformats.org/drawingml/2006/main" w="0">
            <a:solidFill>
              <a:srgbClr val="6B7C7E"/>
            </a:solidFill>
            <a:prstDash val="solid"/>
          </a:ln>
        </p:spPr>
      </p:sp>
      <p:sp>
        <p:nvSpPr>
          <p:cNvPr id="15" name="pill-vad">
            <a:extLst xmlns:a="http://schemas.openxmlformats.org/drawingml/2006/main">
              <a:ext uri="{FF2B5EF4-FFF2-40B4-BE49-F238E27FC236}">
                <a16:creationId xmlns:a16="http://schemas.microsoft.com/office/drawing/2014/main" id="{AB01E1B4-3D09-477D-9F40-DC25200B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6772" y="5829300"/>
            <a:ext cx="2381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9B2D"/>
          </a:solidFill>
          <a:ln xmlns:a="http://schemas.openxmlformats.org/drawingml/2006/main" w="0">
            <a:solidFill>
              <a:srgbClr val="D69B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F373A7-49BA-401C-9F60-1E53970B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943600"/>
            <a:ext cx="2057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VAD</a:t>
            </a:r>
          </a:p>
        </p:txBody>
      </p:sp>
      <p:sp>
        <p:nvSpPr>
          <p:cNvPr id="17" name="pill-stdi">
            <a:extLst xmlns:a="http://schemas.openxmlformats.org/drawingml/2006/main">
              <a:ext uri="{FF2B5EF4-FFF2-40B4-BE49-F238E27FC236}">
                <a16:creationId xmlns:a16="http://schemas.microsoft.com/office/drawing/2014/main" id="{3C92BE77-8742-42F2-9C82-65127DA0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7572" y="5829300"/>
            <a:ext cx="2381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5345"/>
          </a:solidFill>
          <a:ln xmlns:a="http://schemas.openxmlformats.org/drawingml/2006/main" w="0">
            <a:solidFill>
              <a:srgbClr val="B5534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26A976-F757-4744-890C-1A91E189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5943600"/>
            <a:ext cx="2057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STDI</a:t>
            </a:r>
          </a:p>
        </p:txBody>
      </p:sp>
    </p:spTree>
    <p:extLst>
      <p:ext uri="{BB962C8B-B14F-4D97-AF65-F5344CB8AC3E}">
        <p14:creationId xmlns:p14="http://schemas.microsoft.com/office/powerpoint/2010/main" val="6681951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3D49C26-BF2F-427A-BB53-F4A74171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98ED4F-AAE5-4BB6-91A6-E460AD65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22491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026"/>
                </a:solidFill>
              </a:defRPr>
            </a:pPr>
            <a:r>
              <a:rPr sz="4350" b="1">
                <a:solidFill>
                  <a:srgbClr val="172026"/>
                </a:solidFill>
              </a:rPr>
              <a:t>A trajetória do projeto foi guiada por uma descoberta central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2D07610-90C6-4320-9D72-D5CB4A3B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0267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F6B72"/>
                </a:solidFill>
              </a:defRPr>
            </a:pPr>
            <a:r>
              <a:rPr sz="1875">
                <a:solidFill>
                  <a:srgbClr val="5F6B72"/>
                </a:solidFill>
              </a:rPr>
              <a:t>Classificar falsidade diretamente não capturava bem a mudança de enquadramento produzida pelos LLMs.</a:t>
            </a:r>
          </a:p>
        </p:txBody>
      </p:sp>
      <p:sp>
        <p:nvSpPr>
          <p:cNvPr id="4" name="roadmap-top-spacer">
            <a:extLst xmlns:a="http://schemas.openxmlformats.org/drawingml/2006/main">
              <a:ext uri="{FF2B5EF4-FFF2-40B4-BE49-F238E27FC236}">
                <a16:creationId xmlns:a16="http://schemas.microsoft.com/office/drawing/2014/main" id="{A392A9BC-F517-4999-9C80-8A886911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16459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5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2A71B400-2474-4B46-9480-165ACC6D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62375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260"/>
          </a:solidFill>
          <a:ln xmlns:a="http://schemas.openxmlformats.org/drawingml/2006/main" w="0">
            <a:solidFill>
              <a:srgbClr val="2772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D2231-938B-4FB0-8C68-44133E26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943350"/>
            <a:ext cx="419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B9A0E1AD-4E48-44FE-9C08-49395E67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026"/>
                </a:solidFill>
              </a:defRPr>
            </a:pPr>
            <a:r>
              <a:rPr sz="2025" b="1">
                <a:solidFill>
                  <a:srgbClr val="172026"/>
                </a:solidFill>
              </a:rPr>
              <a:t>Reescrever</a:t>
            </a:r>
          </a:p>
        </p:txBody>
      </p:sp>
      <p:sp>
        <p:nvSpPr>
          <p:cNvPr id="8" name="step-detail-1">
            <a:extLst xmlns:a="http://schemas.openxmlformats.org/drawingml/2006/main">
              <a:ext uri="{FF2B5EF4-FFF2-40B4-BE49-F238E27FC236}">
                <a16:creationId xmlns:a16="http://schemas.microsoft.com/office/drawing/2014/main" id="{3DD4FC1D-A483-4178-A0F0-97C804FE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3048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5F6B72"/>
                </a:solidFill>
              </a:defRPr>
            </a:pPr>
            <a:r>
              <a:rPr sz="1425">
                <a:solidFill>
                  <a:srgbClr val="5F6B72"/>
                </a:solidFill>
              </a:rPr>
              <a:t>Notícias reescritas por modelos e personalidades.</a:t>
            </a:r>
          </a:p>
        </p:txBody>
      </p:sp>
      <p:sp>
        <p:nvSpPr>
          <p:cNvPr id="9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7FAC4B76-CA1B-479E-8090-9E8FDEF1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62375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A0"/>
          </a:solidFill>
          <a:ln xmlns:a="http://schemas.openxmlformats.org/drawingml/2006/main" w="0">
            <a:solidFill>
              <a:srgbClr val="356AA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460099-328D-41E9-8280-7AF77C96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943350"/>
            <a:ext cx="419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0FCCB0B1-7445-4F34-B024-654B1E81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9105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026"/>
                </a:solidFill>
              </a:defRPr>
            </a:pPr>
            <a:r>
              <a:rPr sz="2025" b="1">
                <a:solidFill>
                  <a:srgbClr val="172026"/>
                </a:solidFill>
              </a:rPr>
              <a:t>Auditar</a:t>
            </a:r>
          </a:p>
        </p:txBody>
      </p:sp>
      <p:sp>
        <p:nvSpPr>
          <p:cNvPr id="12" name="step-detail-2">
            <a:extLst xmlns:a="http://schemas.openxmlformats.org/drawingml/2006/main">
              <a:ext uri="{FF2B5EF4-FFF2-40B4-BE49-F238E27FC236}">
                <a16:creationId xmlns:a16="http://schemas.microsoft.com/office/drawing/2014/main" id="{EBF4B5B4-F97B-4C61-B3CD-657F5229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72050"/>
            <a:ext cx="3048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5F6B72"/>
                </a:solidFill>
              </a:defRPr>
            </a:pPr>
            <a:r>
              <a:rPr sz="1425">
                <a:solidFill>
                  <a:srgbClr val="5F6B72"/>
                </a:solidFill>
              </a:rPr>
              <a:t>BERT local e detector pré-treinado como hipóteses de avaliação.</a:t>
            </a:r>
          </a:p>
        </p:txBody>
      </p:sp>
      <p:sp>
        <p:nvSpPr>
          <p:cNvPr id="13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E2E1628F-5525-4065-B0D5-E0FA1671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62375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5345"/>
          </a:solidFill>
          <a:ln xmlns:a="http://schemas.openxmlformats.org/drawingml/2006/main" w="0">
            <a:solidFill>
              <a:srgbClr val="B5534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792308-7A5A-4D1C-BF55-334F3AC4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43350"/>
            <a:ext cx="419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6AF77E73-3A98-4A83-BAFA-63618CAF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9105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026"/>
                </a:solidFill>
              </a:defRPr>
            </a:pPr>
            <a:r>
              <a:rPr sz="2025" b="1">
                <a:solidFill>
                  <a:srgbClr val="172026"/>
                </a:solidFill>
              </a:rPr>
              <a:t>Medir drift</a:t>
            </a:r>
          </a:p>
        </p:txBody>
      </p:sp>
      <p:sp>
        <p:nvSpPr>
          <p:cNvPr id="16" name="step-detail-3">
            <a:extLst xmlns:a="http://schemas.openxmlformats.org/drawingml/2006/main">
              <a:ext uri="{FF2B5EF4-FFF2-40B4-BE49-F238E27FC236}">
                <a16:creationId xmlns:a16="http://schemas.microsoft.com/office/drawing/2014/main" id="{EC8EFBCF-6985-490C-B86C-B3DFFBF2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72050"/>
            <a:ext cx="3048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5F6B72"/>
                </a:solidFill>
              </a:defRPr>
            </a:pPr>
            <a:r>
              <a:rPr sz="1425">
                <a:solidFill>
                  <a:srgbClr val="5F6B72"/>
                </a:solidFill>
              </a:rPr>
              <a:t>STDI para decompor alterações estruturais do texto.</a:t>
            </a:r>
          </a:p>
        </p:txBody>
      </p:sp>
      <p:sp>
        <p:nvSpPr>
          <p:cNvPr id="17" name="step-number-4">
            <a:extLst xmlns:a="http://schemas.openxmlformats.org/drawingml/2006/main">
              <a:ext uri="{FF2B5EF4-FFF2-40B4-BE49-F238E27FC236}">
                <a16:creationId xmlns:a16="http://schemas.microsoft.com/office/drawing/2014/main" id="{F99A5F02-3D04-4624-87D5-F8839023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3762375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9B2D"/>
          </a:solidFill>
          <a:ln xmlns:a="http://schemas.openxmlformats.org/drawingml/2006/main" w="0">
            <a:solidFill>
              <a:srgbClr val="D69B2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0A73C4-FD99-43BB-ADCF-3FE4BC96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943350"/>
            <a:ext cx="419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step-label-4">
            <a:extLst xmlns:a="http://schemas.openxmlformats.org/drawingml/2006/main">
              <a:ext uri="{FF2B5EF4-FFF2-40B4-BE49-F238E27FC236}">
                <a16:creationId xmlns:a16="http://schemas.microsoft.com/office/drawing/2014/main" id="{EE3B4FA9-4FF3-414B-8FAD-25570CD5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59105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026"/>
                </a:solidFill>
              </a:defRPr>
            </a:pPr>
            <a:r>
              <a:rPr sz="2025" b="1">
                <a:solidFill>
                  <a:srgbClr val="172026"/>
                </a:solidFill>
              </a:rPr>
              <a:t>Adicionar afeto</a:t>
            </a:r>
          </a:p>
        </p:txBody>
      </p:sp>
      <p:sp>
        <p:nvSpPr>
          <p:cNvPr id="20" name="step-detail-4">
            <a:extLst xmlns:a="http://schemas.openxmlformats.org/drawingml/2006/main">
              <a:ext uri="{FF2B5EF4-FFF2-40B4-BE49-F238E27FC236}">
                <a16:creationId xmlns:a16="http://schemas.microsoft.com/office/drawing/2014/main" id="{235C523E-1334-4897-BD69-D5BEE433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972050"/>
            <a:ext cx="3048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5F6B72"/>
                </a:solidFill>
              </a:defRPr>
            </a:pPr>
            <a:r>
              <a:rPr sz="1425">
                <a:solidFill>
                  <a:srgbClr val="5F6B72"/>
                </a:solidFill>
              </a:rPr>
              <a:t>VAD para observar valência, excitação e dominância.</a:t>
            </a:r>
          </a:p>
        </p:txBody>
      </p:sp>
      <p:sp>
        <p:nvSpPr>
          <p:cNvPr id="21" name="step-number-5">
            <a:extLst xmlns:a="http://schemas.openxmlformats.org/drawingml/2006/main">
              <a:ext uri="{FF2B5EF4-FFF2-40B4-BE49-F238E27FC236}">
                <a16:creationId xmlns:a16="http://schemas.microsoft.com/office/drawing/2014/main" id="{B4626874-2893-41CA-9485-D6BBBE62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6700" y="3762375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4D78"/>
          </a:solidFill>
          <a:ln xmlns:a="http://schemas.openxmlformats.org/drawingml/2006/main" w="0">
            <a:solidFill>
              <a:srgbClr val="684D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050F76-5393-4D8B-8391-4B2D1979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050" y="3943350"/>
            <a:ext cx="419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step-label-5">
            <a:extLst xmlns:a="http://schemas.openxmlformats.org/drawingml/2006/main">
              <a:ext uri="{FF2B5EF4-FFF2-40B4-BE49-F238E27FC236}">
                <a16:creationId xmlns:a16="http://schemas.microsoft.com/office/drawing/2014/main" id="{78D90691-3791-4CF5-B0C8-7218FB59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459105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026"/>
                </a:solidFill>
              </a:defRPr>
            </a:pPr>
            <a:r>
              <a:rPr sz="2025" b="1">
                <a:solidFill>
                  <a:srgbClr val="172026"/>
                </a:solidFill>
              </a:rPr>
              <a:t>Simular rede</a:t>
            </a:r>
          </a:p>
        </p:txBody>
      </p:sp>
      <p:sp>
        <p:nvSpPr>
          <p:cNvPr id="24" name="step-detail-5">
            <a:extLst xmlns:a="http://schemas.openxmlformats.org/drawingml/2006/main">
              <a:ext uri="{FF2B5EF4-FFF2-40B4-BE49-F238E27FC236}">
                <a16:creationId xmlns:a16="http://schemas.microsoft.com/office/drawing/2014/main" id="{12557FAB-EA7E-4FC2-A759-CB655023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4972050"/>
            <a:ext cx="3048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5F6B72"/>
                </a:solidFill>
              </a:defRPr>
            </a:pPr>
            <a:r>
              <a:rPr sz="1425">
                <a:solidFill>
                  <a:srgbClr val="5F6B72"/>
                </a:solidFill>
              </a:rPr>
              <a:t>Grafo interativo para cadeias de personalidades.</a:t>
            </a:r>
          </a:p>
        </p:txBody>
      </p:sp>
      <p:sp>
        <p:nvSpPr>
          <p:cNvPr id="25" name="roadmap-bottom-spacer">
            <a:extLst xmlns:a="http://schemas.openxmlformats.org/drawingml/2006/main">
              <a:ext uri="{FF2B5EF4-FFF2-40B4-BE49-F238E27FC236}">
                <a16:creationId xmlns:a16="http://schemas.microsoft.com/office/drawing/2014/main" id="{73A8CC92-4D44-446B-8BBD-2EBAFA68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16459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6" name="footer">
            <a:extLst xmlns:a="http://schemas.openxmlformats.org/drawingml/2006/main">
              <a:ext uri="{FF2B5EF4-FFF2-40B4-BE49-F238E27FC236}">
                <a16:creationId xmlns:a16="http://schemas.microsoft.com/office/drawing/2014/main" id="{6EEBC55E-8C61-476C-B8A8-0A0DD278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67550"/>
            <a:ext cx="16459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D8589"/>
                </a:solidFill>
              </a:defRPr>
            </a:pPr>
            <a:r>
              <a:rPr sz="1125">
                <a:solidFill>
                  <a:srgbClr val="7D8589"/>
                </a:solidFill>
              </a:rPr>
              <a:t>Projeto TCC - Simulação de desinformação com LLMs</a:t>
            </a:r>
          </a:p>
        </p:txBody>
      </p:sp>
    </p:spTree>
    <p:extLst>
      <p:ext uri="{BB962C8B-B14F-4D97-AF65-F5344CB8AC3E}">
        <p14:creationId xmlns:p14="http://schemas.microsoft.com/office/powerpoint/2010/main" val="16377454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417ABCB-BF1C-4C0C-9586-18539B30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A82E43-9625-4F2E-9D9E-D4ADDA99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29540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026"/>
                </a:solidFill>
              </a:defRPr>
            </a:pPr>
            <a:r>
              <a:rPr sz="4350" b="1">
                <a:solidFill>
                  <a:srgbClr val="172026"/>
                </a:solidFill>
              </a:rPr>
              <a:t>Primeiro experimento: notícias reescritas com diferentes personalidades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C8E575F-6A7C-4234-9263-E9BE65A8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10109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F6B72"/>
                </a:solidFill>
              </a:defRPr>
            </a:pPr>
            <a:r>
              <a:rPr sz="1875">
                <a:solidFill>
                  <a:srgbClr val="5F6B72"/>
                </a:solidFill>
              </a:rPr>
              <a:t>O projeto começou testando se a mudança de perspectiva poderia ser capturada por comparação semântica entre original e versão reescrita.</a:t>
            </a:r>
          </a:p>
        </p:txBody>
      </p:sp>
      <p:sp>
        <p:nvSpPr>
          <p:cNvPr id="4" name="pipeline-data">
            <a:extLst xmlns:a="http://schemas.openxmlformats.org/drawingml/2006/main">
              <a:ext uri="{FF2B5EF4-FFF2-40B4-BE49-F238E27FC236}">
                <a16:creationId xmlns:a16="http://schemas.microsoft.com/office/drawing/2014/main" id="{D3A7483F-C427-40B9-A2D0-D05B8EC2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52070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0">
            <a:solidFill>
              <a:srgbClr val="DDED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DC1AA-661F-46EB-9E54-2A6B032B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4552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77260"/>
                </a:solidFill>
              </a:defRPr>
            </a:pPr>
            <a:r>
              <a:rPr sz="2850" b="1">
                <a:solidFill>
                  <a:srgbClr val="277260"/>
                </a:solidFill>
              </a:rPr>
              <a:t>Dados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BDDD5-D152-4B4E-A037-BC5132B0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72150"/>
            <a:ext cx="4552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26"/>
                </a:solidFill>
              </a:defRPr>
            </a:pPr>
            <a:r>
              <a:rPr sz="1875">
                <a:solidFill>
                  <a:srgbClr val="172026"/>
                </a:solidFill>
              </a:rPr>
              <a:t>NewsData.io e bases locais; seleção por coluna textual, título e identificador.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7579C-2AC9-4481-8383-35B4320B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19850"/>
            <a:ext cx="455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F6B72"/>
                </a:solidFill>
              </a:defRPr>
            </a:pPr>
            <a:r>
              <a:rPr sz="1575">
                <a:solidFill>
                  <a:srgbClr val="5F6B72"/>
                </a:solidFill>
              </a:rPr>
              <a:t>2315 linhas acumuladas no conjunto newsdata_news.</a:t>
            </a:r>
          </a:p>
        </p:txBody>
      </p:sp>
      <p:sp>
        <p:nvSpPr>
          <p:cNvPr id="8" name="pipeline-llms">
            <a:extLst xmlns:a="http://schemas.openxmlformats.org/drawingml/2006/main">
              <a:ext uri="{FF2B5EF4-FFF2-40B4-BE49-F238E27FC236}">
                <a16:creationId xmlns:a16="http://schemas.microsoft.com/office/drawing/2014/main" id="{993869FA-F1CB-4BC5-8DBF-3CD9B234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500" y="3543300"/>
            <a:ext cx="52070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DCE8F4"/>
          </a:solidFill>
          <a:ln xmlns:a="http://schemas.openxmlformats.org/drawingml/2006/main" w="0">
            <a:solidFill>
              <a:srgbClr val="DCE8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8C3B1-9B10-4B0F-8720-48481E05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43500"/>
            <a:ext cx="4552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6AA0"/>
                </a:solidFill>
              </a:defRPr>
            </a:pPr>
            <a:r>
              <a:rPr sz="2850" b="1">
                <a:solidFill>
                  <a:srgbClr val="356AA0"/>
                </a:solidFill>
              </a:rPr>
              <a:t>Reescrita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4AE3E-2800-4C87-B2A1-B1528AF4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76900"/>
            <a:ext cx="4552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26"/>
                </a:solidFill>
              </a:defRPr>
            </a:pPr>
            <a:r>
              <a:rPr sz="1875">
                <a:solidFill>
                  <a:srgbClr val="172026"/>
                </a:solidFill>
              </a:rPr>
              <a:t>Gemini, ChatGPT, Grok, OpenRouter e Llama local.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E4BAD4-3F65-43B0-8807-6ED8A8D9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324600"/>
            <a:ext cx="4552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F6B72"/>
                </a:solidFill>
              </a:defRPr>
            </a:pPr>
            <a:r>
              <a:rPr sz="1575">
                <a:solidFill>
                  <a:srgbClr val="5F6B72"/>
                </a:solidFill>
              </a:rPr>
              <a:t>Personalidades: direita conservadora, esquerda progressista, conspiratória e cética investigativa.</a:t>
            </a:r>
          </a:p>
        </p:txBody>
      </p:sp>
      <p:sp>
        <p:nvSpPr>
          <p:cNvPr id="12" name="pipeline-audit">
            <a:extLst xmlns:a="http://schemas.openxmlformats.org/drawingml/2006/main">
              <a:ext uri="{FF2B5EF4-FFF2-40B4-BE49-F238E27FC236}">
                <a16:creationId xmlns:a16="http://schemas.microsoft.com/office/drawing/2014/main" id="{3CB35B5D-4F9F-4816-9B08-A3D028A7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600" y="3543300"/>
            <a:ext cx="52070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4E8CA"/>
          </a:solidFill>
          <a:ln xmlns:a="http://schemas.openxmlformats.org/drawingml/2006/main" w="0">
            <a:solidFill>
              <a:srgbClr val="F4E8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810A4F-1EDD-4711-9522-6BF9101F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5143500"/>
            <a:ext cx="4552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9A6A13"/>
                </a:solidFill>
              </a:defRPr>
            </a:pPr>
            <a:r>
              <a:rPr sz="2850" b="1">
                <a:solidFill>
                  <a:srgbClr val="9A6A13"/>
                </a:solidFill>
              </a:rPr>
              <a:t>Auditoria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4F014-C655-48B6-9178-ABF644F5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5676900"/>
            <a:ext cx="4552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26"/>
                </a:solidFill>
              </a:defRPr>
            </a:pPr>
            <a:r>
              <a:rPr sz="1875">
                <a:solidFill>
                  <a:srgbClr val="172026"/>
                </a:solidFill>
              </a:rPr>
              <a:t>Comparação semântica original vs. reescrita com BERT/NLI.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784E5B-2B87-4C7D-BE38-82EB33F0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6324600"/>
            <a:ext cx="4552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F6B72"/>
                </a:solidFill>
              </a:defRPr>
            </a:pPr>
            <a:r>
              <a:rPr sz="1575">
                <a:solidFill>
                  <a:srgbClr val="5F6B72"/>
                </a:solidFill>
              </a:rPr>
              <a:t>Objetivo inicial: sinalizar versões inconsistentes ou potencialmente falsas.</a:t>
            </a:r>
          </a:p>
        </p:txBody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95FB16D7-2922-4EA4-A277-41D53A00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67850"/>
            <a:ext cx="16459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D8589"/>
                </a:solidFill>
              </a:defRPr>
            </a:pPr>
            <a:r>
              <a:rPr sz="1125">
                <a:solidFill>
                  <a:srgbClr val="7D8589"/>
                </a:solidFill>
              </a:rPr>
              <a:t>Fonte: README, execution_report.md e módulos src/misinformation_simulation.</a:t>
            </a:r>
          </a:p>
        </p:txBody>
      </p:sp>
    </p:spTree>
    <p:extLst>
      <p:ext uri="{BB962C8B-B14F-4D97-AF65-F5344CB8AC3E}">
        <p14:creationId xmlns:p14="http://schemas.microsoft.com/office/powerpoint/2010/main" val="17304295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16C8960-1CCF-498D-8B65-F4580D1B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650DEF-2D83-424A-83D0-4A00FB50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92011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026"/>
                </a:solidFill>
              </a:defRPr>
            </a:pPr>
            <a:r>
              <a:rPr sz="4350" b="1">
                <a:solidFill>
                  <a:srgbClr val="172026"/>
                </a:solidFill>
              </a:rPr>
              <a:t>Por que falso ou verdadeiro não bastava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EC2AEFC-9580-42E8-84C1-6838F0EA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05537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F6B72"/>
                </a:solidFill>
              </a:defRPr>
            </a:pPr>
            <a:r>
              <a:rPr sz="1875">
                <a:solidFill>
                  <a:srgbClr val="5F6B72"/>
                </a:solidFill>
              </a:rPr>
              <a:t>O problema central não era só detectar mentira factual, mas entender quando uma reescrita passa a alterar a interpretação da notícia.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17C186-92B9-4A9B-A596-CD409989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9525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026"/>
                </a:solidFill>
              </a:defRPr>
            </a:pPr>
            <a:r>
              <a:rPr sz="2625" b="1">
                <a:solidFill>
                  <a:srgbClr val="172026"/>
                </a:solidFill>
              </a:rPr>
              <a:t>A mudança acontece em escala, não em chave liga/desliga</a:t>
            </a:r>
          </a:p>
        </p:txBody>
      </p:sp>
      <p:sp>
        <p:nvSpPr>
          <p:cNvPr id="5" name="pill-mesma-noticia">
            <a:extLst xmlns:a="http://schemas.openxmlformats.org/drawingml/2006/main">
              <a:ext uri="{FF2B5EF4-FFF2-40B4-BE49-F238E27FC236}">
                <a16:creationId xmlns:a16="http://schemas.microsoft.com/office/drawing/2014/main" id="{389AE89F-0CFC-498B-BF99-DD3EB68E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05450"/>
            <a:ext cx="1238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260"/>
          </a:solidFill>
          <a:ln xmlns:a="http://schemas.openxmlformats.org/drawingml/2006/main" w="0">
            <a:solidFill>
              <a:srgbClr val="2772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BB793-614E-440A-8599-42034F67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43550"/>
            <a:ext cx="914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mesma noticia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DF7CA-F3A1-4C58-B9CF-C6D65D4E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6769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8" name="pill-nova-enfase">
            <a:extLst xmlns:a="http://schemas.openxmlformats.org/drawingml/2006/main">
              <a:ext uri="{FF2B5EF4-FFF2-40B4-BE49-F238E27FC236}">
                <a16:creationId xmlns:a16="http://schemas.microsoft.com/office/drawing/2014/main" id="{845456DD-64AB-4F74-9E28-F1741607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1238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8992"/>
          </a:solidFill>
          <a:ln xmlns:a="http://schemas.openxmlformats.org/drawingml/2006/main" w="0">
            <a:solidFill>
              <a:srgbClr val="1B899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C4260A-FE8A-4EB6-9441-F15EBE7F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19750"/>
            <a:ext cx="914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nova enfase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61830-C9F8-4D58-9D44-44B03CD5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769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11" name="pill-novo-enquadramento">
            <a:extLst xmlns:a="http://schemas.openxmlformats.org/drawingml/2006/main">
              <a:ext uri="{FF2B5EF4-FFF2-40B4-BE49-F238E27FC236}">
                <a16:creationId xmlns:a16="http://schemas.microsoft.com/office/drawing/2014/main" id="{1565F5EC-632F-451F-AED0-A166C702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505450"/>
            <a:ext cx="1809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A0"/>
          </a:solidFill>
          <a:ln xmlns:a="http://schemas.openxmlformats.org/drawingml/2006/main" w="0">
            <a:solidFill>
              <a:srgbClr val="356AA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FFEAD7-AAD0-4D78-890E-76A626A1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543550"/>
            <a:ext cx="1485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novo enquadramento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E7A88-4164-4E75-B13A-DF339042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769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14" name="pill-distorcao">
            <a:extLst xmlns:a="http://schemas.openxmlformats.org/drawingml/2006/main">
              <a:ext uri="{FF2B5EF4-FFF2-40B4-BE49-F238E27FC236}">
                <a16:creationId xmlns:a16="http://schemas.microsoft.com/office/drawing/2014/main" id="{6F7619C8-7C34-4CC6-BC2B-DC64330A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505450"/>
            <a:ext cx="1238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9B2D"/>
          </a:solidFill>
          <a:ln xmlns:a="http://schemas.openxmlformats.org/drawingml/2006/main" w="0">
            <a:solidFill>
              <a:srgbClr val="D69B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C142B9-5C54-47F9-9E98-5AEF51DE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619750"/>
            <a:ext cx="914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distorcao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9F2886-A360-4C9B-9611-5A003AC6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769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17" name="pill-desinformacao">
            <a:extLst xmlns:a="http://schemas.openxmlformats.org/drawingml/2006/main">
              <a:ext uri="{FF2B5EF4-FFF2-40B4-BE49-F238E27FC236}">
                <a16:creationId xmlns:a16="http://schemas.microsoft.com/office/drawing/2014/main" id="{EB06D942-0289-4BF4-AA14-C035193B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505450"/>
            <a:ext cx="1619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5345"/>
          </a:solidFill>
          <a:ln xmlns:a="http://schemas.openxmlformats.org/drawingml/2006/main" w="0">
            <a:solidFill>
              <a:srgbClr val="B5534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552155-AB29-42E7-9F26-440B1B94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619750"/>
            <a:ext cx="129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desinformacao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BC8DDF-49FF-4933-B2E6-0DC51703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72200"/>
            <a:ext cx="9239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F6B72"/>
                </a:solidFill>
              </a:defRPr>
            </a:pPr>
            <a:r>
              <a:rPr sz="2025">
                <a:solidFill>
                  <a:srgbClr val="5F6B72"/>
                </a:solidFill>
              </a:rPr>
              <a:t>A mesma base factual pode ganhar outro foco, outra causalidade percebida e outro tom. A pergunta mais útil passa a ser: quanto a informação mudou a cada transformação?</a:t>
            </a:r>
          </a:p>
        </p:txBody>
      </p:sp>
      <p:sp>
        <p:nvSpPr>
          <p:cNvPr id="20" name="bullet-mark-0">
            <a:extLst xmlns:a="http://schemas.openxmlformats.org/drawingml/2006/main">
              <a:ext uri="{FF2B5EF4-FFF2-40B4-BE49-F238E27FC236}">
                <a16:creationId xmlns:a16="http://schemas.microsoft.com/office/drawing/2014/main" id="{225C232B-BFEA-4407-A9BA-26118C3C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9530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5345"/>
          </a:solidFill>
          <a:ln xmlns:a="http://schemas.openxmlformats.org/drawingml/2006/main" w="0">
            <a:solidFill>
              <a:srgbClr val="B55345"/>
            </a:solidFill>
            <a:prstDash val="solid"/>
          </a:ln>
        </p:spPr>
      </p:sp>
      <p:sp>
        <p:nvSpPr>
          <p:cNvPr id="21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74734FD6-2900-4A7C-B51D-1585901B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953000"/>
            <a:ext cx="6096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26"/>
                </a:solidFill>
              </a:defRPr>
            </a:pPr>
            <a:r>
              <a:rPr sz="1875">
                <a:solidFill>
                  <a:srgbClr val="172026"/>
                </a:solidFill>
              </a:rPr>
              <a:t>Uma reescrita pode contar a mesma notícia sem inventar novos dados.</a:t>
            </a:r>
          </a:p>
        </p:txBody>
      </p:sp>
      <p:sp>
        <p:nvSpPr>
          <p:cNvPr id="22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2AB0C809-C96D-4994-961B-22963631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600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5345"/>
          </a:solidFill>
          <a:ln xmlns:a="http://schemas.openxmlformats.org/drawingml/2006/main" w="0">
            <a:solidFill>
              <a:srgbClr val="B55345"/>
            </a:solidFill>
            <a:prstDash val="solid"/>
          </a:ln>
        </p:spPr>
      </p:sp>
      <p:sp>
        <p:nvSpPr>
          <p:cNvPr id="23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B72065EF-634D-47E3-B71F-CF914FC3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600700"/>
            <a:ext cx="6096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26"/>
                </a:solidFill>
              </a:defRPr>
            </a:pPr>
            <a:r>
              <a:rPr sz="1875">
                <a:solidFill>
                  <a:srgbClr val="172026"/>
                </a:solidFill>
              </a:rPr>
              <a:t>Mesmo assim, pode mudar o sentido prático para quem lê.</a:t>
            </a:r>
          </a:p>
        </p:txBody>
      </p:sp>
      <p:sp>
        <p:nvSpPr>
          <p:cNvPr id="24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57DC525D-785B-42EE-B5CA-74375B3B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0198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5345"/>
          </a:solidFill>
          <a:ln xmlns:a="http://schemas.openxmlformats.org/drawingml/2006/main" w="0">
            <a:solidFill>
              <a:srgbClr val="B55345"/>
            </a:solidFill>
            <a:prstDash val="solid"/>
          </a:ln>
        </p:spPr>
      </p:sp>
      <p:sp>
        <p:nvSpPr>
          <p:cNvPr id="25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26A2CC49-505B-488A-BAAC-F163BB58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019800"/>
            <a:ext cx="6096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26"/>
                </a:solidFill>
              </a:defRPr>
            </a:pPr>
            <a:r>
              <a:rPr sz="1875">
                <a:solidFill>
                  <a:srgbClr val="172026"/>
                </a:solidFill>
              </a:rPr>
              <a:t>A falsidade factual é apenas uma parte da desinformação.</a:t>
            </a:r>
          </a:p>
        </p:txBody>
      </p:sp>
      <p:sp>
        <p:nvSpPr>
          <p:cNvPr id="26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2FF8A82F-C612-4A17-9FAB-089B53DC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5345"/>
          </a:solidFill>
          <a:ln xmlns:a="http://schemas.openxmlformats.org/drawingml/2006/main" w="0">
            <a:solidFill>
              <a:srgbClr val="B55345"/>
            </a:solidFill>
            <a:prstDash val="solid"/>
          </a:ln>
        </p:spPr>
      </p:sp>
      <p:sp>
        <p:nvSpPr>
          <p:cNvPr id="27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AAD4B93C-1166-4AC6-99DB-C2DDD676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6096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26"/>
                </a:solidFill>
              </a:defRPr>
            </a:pPr>
            <a:r>
              <a:rPr sz="1875">
                <a:solidFill>
                  <a:srgbClr val="172026"/>
                </a:solidFill>
              </a:rPr>
              <a:t>Por isso o projeto passou a medir drift informacional ao longo da cadeia de reescritas.</a:t>
            </a:r>
          </a:p>
        </p:txBody>
      </p:sp>
      <p:sp>
        <p:nvSpPr>
          <p:cNvPr id="28" name="footer">
            <a:extLst xmlns:a="http://schemas.openxmlformats.org/drawingml/2006/main">
              <a:ext uri="{FF2B5EF4-FFF2-40B4-BE49-F238E27FC236}">
                <a16:creationId xmlns:a16="http://schemas.microsoft.com/office/drawing/2014/main" id="{22DD2925-5C4F-4D26-878F-0074836F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67850"/>
            <a:ext cx="16459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D8589"/>
                </a:solidFill>
              </a:defRPr>
            </a:pPr>
            <a:r>
              <a:rPr sz="1125">
                <a:solidFill>
                  <a:srgbClr val="7D8589"/>
                </a:solidFill>
              </a:rPr>
              <a:t>Virada metodológica: sair da classificação binária e medir mudança informacional.</a:t>
            </a:r>
          </a:p>
        </p:txBody>
      </p:sp>
    </p:spTree>
    <p:extLst>
      <p:ext uri="{BB962C8B-B14F-4D97-AF65-F5344CB8AC3E}">
        <p14:creationId xmlns:p14="http://schemas.microsoft.com/office/powerpoint/2010/main" val="2717023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DD0367C-BD6D-4F98-9FA9-50858D2C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B93E41-D50E-4FED-9522-319400E8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21539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026"/>
                </a:solidFill>
              </a:defRPr>
            </a:pPr>
            <a:r>
              <a:rPr sz="4350" b="1">
                <a:solidFill>
                  <a:srgbClr val="172026"/>
                </a:solidFill>
              </a:rPr>
              <a:t>STDI: um índice para medir drift estruturado do texto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7903043-A2E3-421D-8A58-5AD468D1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0287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F6B72"/>
                </a:solidFill>
              </a:defRPr>
            </a:pPr>
            <a:r>
              <a:rPr sz="1875">
                <a:solidFill>
                  <a:srgbClr val="5F6B72"/>
                </a:solidFill>
              </a:rPr>
              <a:t>O índice decompõe a mudança em dimensões interpretáveis, em vez de tratar toda diferença textual como falso/verdadeiro.</a:t>
            </a:r>
          </a:p>
        </p:txBody>
      </p:sp>
      <p:sp>
        <p:nvSpPr>
          <p:cNvPr id="4" name="stdi-cell-0-0">
            <a:extLst xmlns:a="http://schemas.openxmlformats.org/drawingml/2006/main">
              <a:ext uri="{FF2B5EF4-FFF2-40B4-BE49-F238E27FC236}">
                <a16:creationId xmlns:a16="http://schemas.microsoft.com/office/drawing/2014/main" id="{7C47FCB9-0E51-4B88-AA9E-C8876CF2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1900238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77260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01E4D-FE76-4E2B-8368-2B4BAF96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29050"/>
            <a:ext cx="156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Componente</a:t>
            </a:r>
          </a:p>
        </p:txBody>
      </p:sp>
      <p:sp>
        <p:nvSpPr>
          <p:cNvPr id="6" name="stdi-cell-0-1">
            <a:extLst xmlns:a="http://schemas.openxmlformats.org/drawingml/2006/main">
              <a:ext uri="{FF2B5EF4-FFF2-40B4-BE49-F238E27FC236}">
                <a16:creationId xmlns:a16="http://schemas.microsoft.com/office/drawing/2014/main" id="{D8C30C3B-445F-49C5-A5FB-864F08C0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38" y="3657600"/>
            <a:ext cx="1900238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77260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2E19B-7EFF-4588-BDD0-724ADC8F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29050"/>
            <a:ext cx="156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Peso</a:t>
            </a:r>
          </a:p>
        </p:txBody>
      </p:sp>
      <p:sp>
        <p:nvSpPr>
          <p:cNvPr id="8" name="stdi-cell-0-2">
            <a:extLst xmlns:a="http://schemas.openxmlformats.org/drawingml/2006/main">
              <a:ext uri="{FF2B5EF4-FFF2-40B4-BE49-F238E27FC236}">
                <a16:creationId xmlns:a16="http://schemas.microsoft.com/office/drawing/2014/main" id="{C76356F9-F744-4BD3-9123-B52B998F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657600"/>
            <a:ext cx="456057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77260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4A3D4-4CCE-4BEF-A78D-A6119B49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29050"/>
            <a:ext cx="421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Como mede</a:t>
            </a:r>
          </a:p>
        </p:txBody>
      </p:sp>
      <p:sp>
        <p:nvSpPr>
          <p:cNvPr id="10" name="stdi-cell-1-0">
            <a:extLst xmlns:a="http://schemas.openxmlformats.org/drawingml/2006/main">
              <a:ext uri="{FF2B5EF4-FFF2-40B4-BE49-F238E27FC236}">
                <a16:creationId xmlns:a16="http://schemas.microsoft.com/office/drawing/2014/main" id="{DAEE7AFB-3E76-4633-AFF0-E7F43CBD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1900238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C47EC-021F-4575-927A-38A5C695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38650"/>
            <a:ext cx="156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Tema</a:t>
            </a:r>
          </a:p>
        </p:txBody>
      </p:sp>
      <p:sp>
        <p:nvSpPr>
          <p:cNvPr id="12" name="stdi-cell-1-1">
            <a:extLst xmlns:a="http://schemas.openxmlformats.org/drawingml/2006/main">
              <a:ext uri="{FF2B5EF4-FFF2-40B4-BE49-F238E27FC236}">
                <a16:creationId xmlns:a16="http://schemas.microsoft.com/office/drawing/2014/main" id="{9D2D1E61-29E5-4389-9373-68015B81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38" y="4191000"/>
            <a:ext cx="1900238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997D0A-69BE-4B22-A3DA-F4023C3A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38650"/>
            <a:ext cx="156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rPr sz="1350" b="0">
                <a:solidFill>
                  <a:srgbClr val="172026"/>
                </a:solidFill>
              </a:rPr>
              <a:t>0,12</a:t>
            </a:r>
          </a:p>
        </p:txBody>
      </p:sp>
      <p:sp>
        <p:nvSpPr>
          <p:cNvPr id="14" name="stdi-cell-1-2">
            <a:extLst xmlns:a="http://schemas.openxmlformats.org/drawingml/2006/main">
              <a:ext uri="{FF2B5EF4-FFF2-40B4-BE49-F238E27FC236}">
                <a16:creationId xmlns:a16="http://schemas.microsoft.com/office/drawing/2014/main" id="{2CAB76EC-CC54-4EF7-9E4C-AF3CA05F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91000"/>
            <a:ext cx="456057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2CC0EC-D1CC-4AD8-8EF6-CE655CA7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438650"/>
            <a:ext cx="421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rPr sz="1350" b="0">
                <a:solidFill>
                  <a:srgbClr val="172026"/>
                </a:solidFill>
              </a:rPr>
              <a:t>tópico principal igual ou diferente</a:t>
            </a:r>
          </a:p>
        </p:txBody>
      </p:sp>
      <p:sp>
        <p:nvSpPr>
          <p:cNvPr id="16" name="stdi-cell-2-0">
            <a:extLst xmlns:a="http://schemas.openxmlformats.org/drawingml/2006/main">
              <a:ext uri="{FF2B5EF4-FFF2-40B4-BE49-F238E27FC236}">
                <a16:creationId xmlns:a16="http://schemas.microsoft.com/office/drawing/2014/main" id="{075BA7A4-1BCA-4F93-A752-8B58A93C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900238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35B589-9215-4F3B-8A7B-4AAC3C3B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156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Subtópicos</a:t>
            </a:r>
          </a:p>
        </p:txBody>
      </p:sp>
      <p:sp>
        <p:nvSpPr>
          <p:cNvPr id="18" name="stdi-cell-2-1">
            <a:extLst xmlns:a="http://schemas.openxmlformats.org/drawingml/2006/main">
              <a:ext uri="{FF2B5EF4-FFF2-40B4-BE49-F238E27FC236}">
                <a16:creationId xmlns:a16="http://schemas.microsoft.com/office/drawing/2014/main" id="{CD960A05-8D34-4B3B-B045-51B18B18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38" y="4857750"/>
            <a:ext cx="1900238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8E7BD-5886-46C1-8179-69BF0612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105400"/>
            <a:ext cx="156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rPr sz="1350" b="0">
                <a:solidFill>
                  <a:srgbClr val="172026"/>
                </a:solidFill>
              </a:rPr>
              <a:t>0,12</a:t>
            </a:r>
          </a:p>
        </p:txBody>
      </p:sp>
      <p:sp>
        <p:nvSpPr>
          <p:cNvPr id="20" name="stdi-cell-2-2">
            <a:extLst xmlns:a="http://schemas.openxmlformats.org/drawingml/2006/main">
              <a:ext uri="{FF2B5EF4-FFF2-40B4-BE49-F238E27FC236}">
                <a16:creationId xmlns:a16="http://schemas.microsoft.com/office/drawing/2014/main" id="{B228BBFA-55E1-4640-907E-30A114D8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857750"/>
            <a:ext cx="456057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0C8609-9C49-4B06-AC5E-7878D5A0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05400"/>
            <a:ext cx="421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rPr sz="1350" b="0">
                <a:solidFill>
                  <a:srgbClr val="172026"/>
                </a:solidFill>
              </a:rPr>
              <a:t>distância de Jaccard</a:t>
            </a:r>
          </a:p>
        </p:txBody>
      </p:sp>
      <p:sp>
        <p:nvSpPr>
          <p:cNvPr id="22" name="stdi-cell-3-0">
            <a:extLst xmlns:a="http://schemas.openxmlformats.org/drawingml/2006/main">
              <a:ext uri="{FF2B5EF4-FFF2-40B4-BE49-F238E27FC236}">
                <a16:creationId xmlns:a16="http://schemas.microsoft.com/office/drawing/2014/main" id="{FB7C87CD-0C2B-4A2F-B564-2FF11957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0"/>
            <a:ext cx="1900238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E76C9A-F950-45C9-A3B2-5180C518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772150"/>
            <a:ext cx="156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Entidades</a:t>
            </a:r>
          </a:p>
        </p:txBody>
      </p:sp>
      <p:sp>
        <p:nvSpPr>
          <p:cNvPr id="24" name="stdi-cell-3-1">
            <a:extLst xmlns:a="http://schemas.openxmlformats.org/drawingml/2006/main">
              <a:ext uri="{FF2B5EF4-FFF2-40B4-BE49-F238E27FC236}">
                <a16:creationId xmlns:a16="http://schemas.microsoft.com/office/drawing/2014/main" id="{378F3BE1-87C2-4D33-B9BC-793D7442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38" y="5524500"/>
            <a:ext cx="1900238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53EE40-F9B8-486D-8D9D-E37642AD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772150"/>
            <a:ext cx="156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rPr sz="1350" b="0">
                <a:solidFill>
                  <a:srgbClr val="172026"/>
                </a:solidFill>
              </a:rPr>
              <a:t>0,12</a:t>
            </a:r>
          </a:p>
        </p:txBody>
      </p:sp>
      <p:sp>
        <p:nvSpPr>
          <p:cNvPr id="26" name="stdi-cell-3-2">
            <a:extLst xmlns:a="http://schemas.openxmlformats.org/drawingml/2006/main">
              <a:ext uri="{FF2B5EF4-FFF2-40B4-BE49-F238E27FC236}">
                <a16:creationId xmlns:a16="http://schemas.microsoft.com/office/drawing/2014/main" id="{5ED29AEA-00BE-4AC9-98F7-625D0902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524500"/>
            <a:ext cx="456057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3EA683-EFE4-42AE-8703-C6801284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772150"/>
            <a:ext cx="421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rPr sz="1350" b="0">
                <a:solidFill>
                  <a:srgbClr val="172026"/>
                </a:solidFill>
              </a:rPr>
              <a:t>distância de Jaccard</a:t>
            </a:r>
          </a:p>
        </p:txBody>
      </p:sp>
      <p:sp>
        <p:nvSpPr>
          <p:cNvPr id="28" name="stdi-cell-4-0">
            <a:extLst xmlns:a="http://schemas.openxmlformats.org/drawingml/2006/main">
              <a:ext uri="{FF2B5EF4-FFF2-40B4-BE49-F238E27FC236}">
                <a16:creationId xmlns:a16="http://schemas.microsoft.com/office/drawing/2014/main" id="{04DDDA9D-97A7-4206-A2CB-F9871357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91250"/>
            <a:ext cx="1900238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91FCB8-0649-4898-943A-ACE77353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438900"/>
            <a:ext cx="156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Relações</a:t>
            </a:r>
          </a:p>
        </p:txBody>
      </p:sp>
      <p:sp>
        <p:nvSpPr>
          <p:cNvPr id="30" name="stdi-cell-4-1">
            <a:extLst xmlns:a="http://schemas.openxmlformats.org/drawingml/2006/main">
              <a:ext uri="{FF2B5EF4-FFF2-40B4-BE49-F238E27FC236}">
                <a16:creationId xmlns:a16="http://schemas.microsoft.com/office/drawing/2014/main" id="{D40A8B5D-86B5-422D-BE58-301E8C7A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38" y="6191250"/>
            <a:ext cx="1900238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36012E-BA5C-4520-8B69-2CE33C13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438900"/>
            <a:ext cx="156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rPr sz="1350" b="0">
                <a:solidFill>
                  <a:srgbClr val="172026"/>
                </a:solidFill>
              </a:rPr>
              <a:t>0,24</a:t>
            </a:r>
          </a:p>
        </p:txBody>
      </p:sp>
      <p:sp>
        <p:nvSpPr>
          <p:cNvPr id="32" name="stdi-cell-4-2">
            <a:extLst xmlns:a="http://schemas.openxmlformats.org/drawingml/2006/main">
              <a:ext uri="{FF2B5EF4-FFF2-40B4-BE49-F238E27FC236}">
                <a16:creationId xmlns:a16="http://schemas.microsoft.com/office/drawing/2014/main" id="{95EB6DEA-05BE-4A78-9175-4B0C767F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6191250"/>
            <a:ext cx="456057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87D51C-E78A-417E-8A8A-4A7740F8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6438900"/>
            <a:ext cx="421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rPr sz="1350" b="0">
                <a:solidFill>
                  <a:srgbClr val="172026"/>
                </a:solidFill>
              </a:rPr>
              <a:t>sujeito-ação-objeto</a:t>
            </a:r>
          </a:p>
        </p:txBody>
      </p:sp>
      <p:sp>
        <p:nvSpPr>
          <p:cNvPr id="34" name="stdi-cell-5-0">
            <a:extLst xmlns:a="http://schemas.openxmlformats.org/drawingml/2006/main">
              <a:ext uri="{FF2B5EF4-FFF2-40B4-BE49-F238E27FC236}">
                <a16:creationId xmlns:a16="http://schemas.microsoft.com/office/drawing/2014/main" id="{F2D87C14-1D50-485D-B373-A6B59E2A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0"/>
            <a:ext cx="1900238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FB7536-D5FC-4C2B-BC17-84A321AB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105650"/>
            <a:ext cx="156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Contradição</a:t>
            </a:r>
          </a:p>
        </p:txBody>
      </p:sp>
      <p:sp>
        <p:nvSpPr>
          <p:cNvPr id="36" name="stdi-cell-5-1">
            <a:extLst xmlns:a="http://schemas.openxmlformats.org/drawingml/2006/main">
              <a:ext uri="{FF2B5EF4-FFF2-40B4-BE49-F238E27FC236}">
                <a16:creationId xmlns:a16="http://schemas.microsoft.com/office/drawing/2014/main" id="{AEDD4032-7936-489D-A50B-C83E5EB5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38" y="6858000"/>
            <a:ext cx="1900238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4C9DD0-B849-4218-962C-217D418E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7105650"/>
            <a:ext cx="156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rPr sz="1350" b="0">
                <a:solidFill>
                  <a:srgbClr val="172026"/>
                </a:solidFill>
              </a:rPr>
              <a:t>0,20</a:t>
            </a:r>
          </a:p>
        </p:txBody>
      </p:sp>
      <p:sp>
        <p:nvSpPr>
          <p:cNvPr id="38" name="stdi-cell-5-2">
            <a:extLst xmlns:a="http://schemas.openxmlformats.org/drawingml/2006/main">
              <a:ext uri="{FF2B5EF4-FFF2-40B4-BE49-F238E27FC236}">
                <a16:creationId xmlns:a16="http://schemas.microsoft.com/office/drawing/2014/main" id="{1FB49C35-A5D2-46BA-A683-783BEAC0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6858000"/>
            <a:ext cx="456057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6166F3-88B5-40E8-89A8-2A16440F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7105650"/>
            <a:ext cx="421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rPr sz="1350" b="0">
                <a:solidFill>
                  <a:srgbClr val="172026"/>
                </a:solidFill>
              </a:rPr>
              <a:t>contradição interna detectada</a:t>
            </a:r>
          </a:p>
        </p:txBody>
      </p:sp>
      <p:sp>
        <p:nvSpPr>
          <p:cNvPr id="40" name="stdi-cell-6-0">
            <a:extLst xmlns:a="http://schemas.openxmlformats.org/drawingml/2006/main">
              <a:ext uri="{FF2B5EF4-FFF2-40B4-BE49-F238E27FC236}">
                <a16:creationId xmlns:a16="http://schemas.microsoft.com/office/drawing/2014/main" id="{45F41976-8498-46B5-AC09-2DCB9E18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24750"/>
            <a:ext cx="1900238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49A141-7754-4F00-9B6B-59EA9EB2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772400"/>
            <a:ext cx="156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VAD</a:t>
            </a:r>
          </a:p>
        </p:txBody>
      </p:sp>
      <p:sp>
        <p:nvSpPr>
          <p:cNvPr id="42" name="stdi-cell-6-1">
            <a:extLst xmlns:a="http://schemas.openxmlformats.org/drawingml/2006/main">
              <a:ext uri="{FF2B5EF4-FFF2-40B4-BE49-F238E27FC236}">
                <a16:creationId xmlns:a16="http://schemas.microsoft.com/office/drawing/2014/main" id="{AA5C9449-0A2E-4710-8D75-8FB5E130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38" y="7524750"/>
            <a:ext cx="1900238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FF5406-36D2-41AF-82E4-5DF7B0F1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7772400"/>
            <a:ext cx="156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rPr sz="1350" b="0">
                <a:solidFill>
                  <a:srgbClr val="172026"/>
                </a:solidFill>
              </a:rPr>
              <a:t>0,20</a:t>
            </a:r>
          </a:p>
        </p:txBody>
      </p:sp>
      <p:sp>
        <p:nvSpPr>
          <p:cNvPr id="44" name="stdi-cell-6-2">
            <a:extLst xmlns:a="http://schemas.openxmlformats.org/drawingml/2006/main">
              <a:ext uri="{FF2B5EF4-FFF2-40B4-BE49-F238E27FC236}">
                <a16:creationId xmlns:a16="http://schemas.microsoft.com/office/drawing/2014/main" id="{C026D511-6D48-4DD7-B441-5879D5C6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7524750"/>
            <a:ext cx="456057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31F977-7922-4B60-8D8E-57333844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7772400"/>
            <a:ext cx="421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rPr sz="1350" b="0">
                <a:solidFill>
                  <a:srgbClr val="172026"/>
                </a:solidFill>
              </a:rPr>
              <a:t>drift de valência, arousal e dominância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FDD977-01C3-4D25-85B8-CEBE1AEE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95750"/>
            <a:ext cx="7562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26"/>
                </a:solidFill>
              </a:defRPr>
            </a:pPr>
            <a:r>
              <a:rPr sz="2700" b="1">
                <a:solidFill>
                  <a:srgbClr val="172026"/>
                </a:solidFill>
              </a:rPr>
              <a:t>Representação extraída</a:t>
            </a:r>
          </a:p>
        </p:txBody>
      </p:sp>
      <p:sp>
        <p:nvSpPr>
          <p:cNvPr id="47" name="bullet-mark-0">
            <a:extLst xmlns:a="http://schemas.openxmlformats.org/drawingml/2006/main">
              <a:ext uri="{FF2B5EF4-FFF2-40B4-BE49-F238E27FC236}">
                <a16:creationId xmlns:a16="http://schemas.microsoft.com/office/drawing/2014/main" id="{50DACA3E-F412-4AD1-AC04-1615AD90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6672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260"/>
          </a:solidFill>
          <a:ln xmlns:a="http://schemas.openxmlformats.org/drawingml/2006/main" w="0">
            <a:solidFill>
              <a:srgbClr val="277260"/>
            </a:solidFill>
            <a:prstDash val="solid"/>
          </a:ln>
        </p:spPr>
      </p:sp>
      <p:sp>
        <p:nvSpPr>
          <p:cNvPr id="48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F2271E4C-7F37-4F22-87DE-53CDD895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667250"/>
            <a:ext cx="7296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26"/>
                </a:solidFill>
              </a:defRPr>
            </a:pPr>
            <a:r>
              <a:rPr sz="1800">
                <a:solidFill>
                  <a:srgbClr val="172026"/>
                </a:solidFill>
              </a:rPr>
              <a:t>main_topic</a:t>
            </a:r>
          </a:p>
        </p:txBody>
      </p:sp>
      <p:sp>
        <p:nvSpPr>
          <p:cNvPr id="49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42964BE6-E64B-415D-86B2-E952445F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292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260"/>
          </a:solidFill>
          <a:ln xmlns:a="http://schemas.openxmlformats.org/drawingml/2006/main" w="0">
            <a:solidFill>
              <a:srgbClr val="277260"/>
            </a:solidFill>
            <a:prstDash val="solid"/>
          </a:ln>
        </p:spPr>
      </p:sp>
      <p:sp>
        <p:nvSpPr>
          <p:cNvPr id="50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7843F3A8-0ED0-47B9-8E8B-E1861EFE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029200"/>
            <a:ext cx="7296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26"/>
                </a:solidFill>
              </a:defRPr>
            </a:pPr>
            <a:r>
              <a:rPr sz="1800">
                <a:solidFill>
                  <a:srgbClr val="172026"/>
                </a:solidFill>
              </a:rPr>
              <a:t>subtopics</a:t>
            </a:r>
          </a:p>
        </p:txBody>
      </p:sp>
      <p:sp>
        <p:nvSpPr>
          <p:cNvPr id="51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D9DC475B-A588-4F75-9BC4-FDB17F11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3911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260"/>
          </a:solidFill>
          <a:ln xmlns:a="http://schemas.openxmlformats.org/drawingml/2006/main" w="0">
            <a:solidFill>
              <a:srgbClr val="277260"/>
            </a:solidFill>
            <a:prstDash val="solid"/>
          </a:ln>
        </p:spPr>
      </p:sp>
      <p:sp>
        <p:nvSpPr>
          <p:cNvPr id="52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EE776280-A3B9-463B-9E13-83BAD9DD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391150"/>
            <a:ext cx="7296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26"/>
                </a:solidFill>
              </a:defRPr>
            </a:pPr>
            <a:r>
              <a:rPr sz="1800">
                <a:solidFill>
                  <a:srgbClr val="172026"/>
                </a:solidFill>
              </a:rPr>
              <a:t>central_entities</a:t>
            </a:r>
          </a:p>
        </p:txBody>
      </p:sp>
      <p:sp>
        <p:nvSpPr>
          <p:cNvPr id="53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9F97BEC5-4B65-4805-A160-2F608EE5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7531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260"/>
          </a:solidFill>
          <a:ln xmlns:a="http://schemas.openxmlformats.org/drawingml/2006/main" w="0">
            <a:solidFill>
              <a:srgbClr val="277260"/>
            </a:solidFill>
            <a:prstDash val="solid"/>
          </a:ln>
        </p:spPr>
      </p:sp>
      <p:sp>
        <p:nvSpPr>
          <p:cNvPr id="54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12C3B300-031F-4A86-A1BE-EF1C677E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753100"/>
            <a:ext cx="7296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26"/>
                </a:solidFill>
              </a:defRPr>
            </a:pPr>
            <a:r>
              <a:rPr sz="1800">
                <a:solidFill>
                  <a:srgbClr val="172026"/>
                </a:solidFill>
              </a:rPr>
              <a:t>central_relations no formato sujeito, ação, objeto</a:t>
            </a:r>
          </a:p>
        </p:txBody>
      </p:sp>
      <p:sp>
        <p:nvSpPr>
          <p:cNvPr id="55" name="bullet-mark-4">
            <a:extLst xmlns:a="http://schemas.openxmlformats.org/drawingml/2006/main">
              <a:ext uri="{FF2B5EF4-FFF2-40B4-BE49-F238E27FC236}">
                <a16:creationId xmlns:a16="http://schemas.microsoft.com/office/drawing/2014/main" id="{58BBF03B-8E0C-4D00-9D2D-90D00E28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150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260"/>
          </a:solidFill>
          <a:ln xmlns:a="http://schemas.openxmlformats.org/drawingml/2006/main" w="0">
            <a:solidFill>
              <a:srgbClr val="277260"/>
            </a:solidFill>
            <a:prstDash val="solid"/>
          </a:ln>
        </p:spPr>
      </p:sp>
      <p:sp>
        <p:nvSpPr>
          <p:cNvPr id="56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F1332AC6-777E-44AC-86D3-1F6DBF55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115050"/>
            <a:ext cx="7296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26"/>
                </a:solidFill>
              </a:defRPr>
            </a:pPr>
            <a:r>
              <a:rPr sz="1800">
                <a:solidFill>
                  <a:srgbClr val="172026"/>
                </a:solidFill>
              </a:rPr>
              <a:t>narrative_frame</a:t>
            </a:r>
          </a:p>
        </p:txBody>
      </p:sp>
      <p:sp>
        <p:nvSpPr>
          <p:cNvPr id="57" name="bullet-mark-5">
            <a:extLst xmlns:a="http://schemas.openxmlformats.org/drawingml/2006/main">
              <a:ext uri="{FF2B5EF4-FFF2-40B4-BE49-F238E27FC236}">
                <a16:creationId xmlns:a16="http://schemas.microsoft.com/office/drawing/2014/main" id="{F072A5D0-959D-47A6-872E-28730A05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770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260"/>
          </a:solidFill>
          <a:ln xmlns:a="http://schemas.openxmlformats.org/drawingml/2006/main" w="0">
            <a:solidFill>
              <a:srgbClr val="277260"/>
            </a:solidFill>
            <a:prstDash val="solid"/>
          </a:ln>
        </p:spPr>
      </p:sp>
      <p:sp>
        <p:nvSpPr>
          <p:cNvPr id="58" name="bullet-text-5">
            <a:extLst xmlns:a="http://schemas.openxmlformats.org/drawingml/2006/main">
              <a:ext uri="{FF2B5EF4-FFF2-40B4-BE49-F238E27FC236}">
                <a16:creationId xmlns:a16="http://schemas.microsoft.com/office/drawing/2014/main" id="{EF872A08-2495-4767-92B1-C9B17EA8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477000"/>
            <a:ext cx="7296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26"/>
                </a:solidFill>
              </a:defRPr>
            </a:pPr>
            <a:r>
              <a:rPr sz="1800">
                <a:solidFill>
                  <a:srgbClr val="172026"/>
                </a:solidFill>
              </a:rPr>
              <a:t>has_internal_contradiction</a:t>
            </a:r>
          </a:p>
        </p:txBody>
      </p:sp>
      <p:sp>
        <p:nvSpPr>
          <p:cNvPr id="59" name="bullet-mark-6">
            <a:extLst xmlns:a="http://schemas.openxmlformats.org/drawingml/2006/main">
              <a:ext uri="{FF2B5EF4-FFF2-40B4-BE49-F238E27FC236}">
                <a16:creationId xmlns:a16="http://schemas.microsoft.com/office/drawing/2014/main" id="{65885654-4D4D-47AF-9EBD-5B8883C0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8389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260"/>
          </a:solidFill>
          <a:ln xmlns:a="http://schemas.openxmlformats.org/drawingml/2006/main" w="0">
            <a:solidFill>
              <a:srgbClr val="277260"/>
            </a:solidFill>
            <a:prstDash val="solid"/>
          </a:ln>
        </p:spPr>
      </p:sp>
      <p:sp>
        <p:nvSpPr>
          <p:cNvPr id="60" name="bullet-text-6">
            <a:extLst xmlns:a="http://schemas.openxmlformats.org/drawingml/2006/main">
              <a:ext uri="{FF2B5EF4-FFF2-40B4-BE49-F238E27FC236}">
                <a16:creationId xmlns:a16="http://schemas.microsoft.com/office/drawing/2014/main" id="{7246FE14-7DFE-4FA3-8736-E5F004A6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838950"/>
            <a:ext cx="7296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26"/>
                </a:solidFill>
              </a:defRPr>
            </a:pPr>
            <a:r>
              <a:rPr sz="1800">
                <a:solidFill>
                  <a:srgbClr val="172026"/>
                </a:solidFill>
              </a:rPr>
              <a:t>VAD: valência, arousal e dominância</a:t>
            </a:r>
          </a:p>
        </p:txBody>
      </p:sp>
      <p:sp>
        <p:nvSpPr>
          <p:cNvPr id="61" name="stdi-equation">
            <a:extLst xmlns:a="http://schemas.openxmlformats.org/drawingml/2006/main">
              <a:ext uri="{FF2B5EF4-FFF2-40B4-BE49-F238E27FC236}">
                <a16:creationId xmlns:a16="http://schemas.microsoft.com/office/drawing/2014/main" id="{160327E2-E16C-4E61-9709-5815AB6F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296150"/>
            <a:ext cx="7562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55345"/>
                </a:solidFill>
              </a:defRPr>
            </a:pPr>
            <a:r>
              <a:rPr sz="1725" b="1">
                <a:solidFill>
                  <a:srgbClr val="B55345"/>
                </a:solidFill>
              </a:rPr>
              <a:t>STDI com VAD = 0,12 tema + 0,12 subtópico + 0,12 entidade + 0,24 relação + 0,20 contradição + 0,20 VAD</a:t>
            </a:r>
          </a:p>
        </p:txBody>
      </p:sp>
      <p:sp>
        <p:nvSpPr>
          <p:cNvPr id="62" name="footer">
            <a:extLst xmlns:a="http://schemas.openxmlformats.org/drawingml/2006/main">
              <a:ext uri="{FF2B5EF4-FFF2-40B4-BE49-F238E27FC236}">
                <a16:creationId xmlns:a16="http://schemas.microsoft.com/office/drawing/2014/main" id="{473D5669-88EF-4F5A-A42A-2D66DB31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67850"/>
            <a:ext cx="16459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D8589"/>
                </a:solidFill>
              </a:defRPr>
            </a:pPr>
            <a:r>
              <a:rPr sz="1125">
                <a:solidFill>
                  <a:srgbClr val="7D8589"/>
                </a:solidFill>
              </a:rPr>
              <a:t>Implementado em src/misinformation_simulation/topic_drift/metrics.py.</a:t>
            </a:r>
          </a:p>
        </p:txBody>
      </p:sp>
    </p:spTree>
    <p:extLst>
      <p:ext uri="{BB962C8B-B14F-4D97-AF65-F5344CB8AC3E}">
        <p14:creationId xmlns:p14="http://schemas.microsoft.com/office/powerpoint/2010/main" val="88438626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0C1A0FE-CE68-48A1-AD90-908EE56B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27F9CB-687A-41BA-8FFA-D6D23C02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26111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026"/>
                </a:solidFill>
              </a:defRPr>
            </a:pPr>
            <a:r>
              <a:rPr sz="4350" b="1">
                <a:solidFill>
                  <a:srgbClr val="172026"/>
                </a:solidFill>
              </a:rPr>
              <a:t>O STDI também foi preparado para cadeias de reescrita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8859002-4012-4B09-89CF-4CED4A60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11252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F6B72"/>
                </a:solidFill>
              </a:defRPr>
            </a:pPr>
            <a:r>
              <a:rPr sz="1875">
                <a:solidFill>
                  <a:srgbClr val="5F6B72"/>
                </a:solidFill>
              </a:rPr>
              <a:t>Isso permite avaliar não apenas a distância da versão final para o original, mas o acúmulo de drift em cada passo da simulação.</a:t>
            </a:r>
          </a:p>
        </p:txBody>
      </p:sp>
      <p:sp>
        <p:nvSpPr>
          <p:cNvPr id="4" name="metric-value-cada versão comparada à notícia inicial">
            <a:extLst xmlns:a="http://schemas.openxmlformats.org/drawingml/2006/main">
              <a:ext uri="{FF2B5EF4-FFF2-40B4-BE49-F238E27FC236}">
                <a16:creationId xmlns:a16="http://schemas.microsoft.com/office/drawing/2014/main" id="{D1D9D789-5C16-436B-BAB1-E74A388D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5181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277260"/>
                </a:solidFill>
              </a:defRPr>
            </a:pPr>
            <a:r>
              <a:rPr sz="5400" b="1">
                <a:solidFill>
                  <a:srgbClr val="277260"/>
                </a:solidFill>
              </a:rPr>
              <a:t>vs original</a:t>
            </a:r>
          </a:p>
        </p:txBody>
      </p:sp>
      <p:sp>
        <p:nvSpPr>
          <p:cNvPr id="5" name="metric-label-cada versão comparada à notícia inicial">
            <a:extLst xmlns:a="http://schemas.openxmlformats.org/drawingml/2006/main">
              <a:ext uri="{FF2B5EF4-FFF2-40B4-BE49-F238E27FC236}">
                <a16:creationId xmlns:a16="http://schemas.microsoft.com/office/drawing/2014/main" id="{E8936941-94B9-4889-8A52-1BDFBA3C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67400"/>
            <a:ext cx="518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5F6B72"/>
                </a:solidFill>
              </a:defRPr>
            </a:pPr>
            <a:r>
              <a:rPr sz="1575">
                <a:solidFill>
                  <a:srgbClr val="5F6B72"/>
                </a:solidFill>
              </a:rPr>
              <a:t>cada versão comparada à notícia inicial</a:t>
            </a:r>
          </a:p>
        </p:txBody>
      </p:sp>
      <p:sp>
        <p:nvSpPr>
          <p:cNvPr id="6" name="metric-value-cada versão comparada ao passo anterior">
            <a:extLst xmlns:a="http://schemas.openxmlformats.org/drawingml/2006/main">
              <a:ext uri="{FF2B5EF4-FFF2-40B4-BE49-F238E27FC236}">
                <a16:creationId xmlns:a16="http://schemas.microsoft.com/office/drawing/2014/main" id="{326E3438-C140-48C5-A1FA-8F399FD0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05400"/>
            <a:ext cx="5181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356AA0"/>
                </a:solidFill>
              </a:defRPr>
            </a:pPr>
            <a:r>
              <a:rPr sz="5400" b="1">
                <a:solidFill>
                  <a:srgbClr val="356AA0"/>
                </a:solidFill>
              </a:rPr>
              <a:t>incremental</a:t>
            </a:r>
          </a:p>
        </p:txBody>
      </p:sp>
      <p:sp>
        <p:nvSpPr>
          <p:cNvPr id="7" name="metric-label-cada versão comparada ao passo anterior">
            <a:extLst xmlns:a="http://schemas.openxmlformats.org/drawingml/2006/main">
              <a:ext uri="{FF2B5EF4-FFF2-40B4-BE49-F238E27FC236}">
                <a16:creationId xmlns:a16="http://schemas.microsoft.com/office/drawing/2014/main" id="{A1CBAB8C-08F3-4083-92A4-0B636A47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867400"/>
            <a:ext cx="518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5F6B72"/>
                </a:solidFill>
              </a:defRPr>
            </a:pPr>
            <a:r>
              <a:rPr sz="1575">
                <a:solidFill>
                  <a:srgbClr val="5F6B72"/>
                </a:solidFill>
              </a:rPr>
              <a:t>cada versão comparada ao passo anterior</a:t>
            </a:r>
          </a:p>
        </p:txBody>
      </p:sp>
      <p:sp>
        <p:nvSpPr>
          <p:cNvPr id="8" name="metric-value-soma do drift ao longo da cadeia">
            <a:extLst xmlns:a="http://schemas.openxmlformats.org/drawingml/2006/main">
              <a:ext uri="{FF2B5EF4-FFF2-40B4-BE49-F238E27FC236}">
                <a16:creationId xmlns:a16="http://schemas.microsoft.com/office/drawing/2014/main" id="{2972826E-31B8-4A7C-84D4-21D6D098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105400"/>
            <a:ext cx="5181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B55345"/>
                </a:solidFill>
              </a:defRPr>
            </a:pPr>
            <a:r>
              <a:rPr sz="5400" b="1">
                <a:solidFill>
                  <a:srgbClr val="B55345"/>
                </a:solidFill>
              </a:rPr>
              <a:t>cumulativo</a:t>
            </a:r>
          </a:p>
        </p:txBody>
      </p:sp>
      <p:sp>
        <p:nvSpPr>
          <p:cNvPr id="9" name="metric-label-soma do drift ao longo da cadeia">
            <a:extLst xmlns:a="http://schemas.openxmlformats.org/drawingml/2006/main">
              <a:ext uri="{FF2B5EF4-FFF2-40B4-BE49-F238E27FC236}">
                <a16:creationId xmlns:a16="http://schemas.microsoft.com/office/drawing/2014/main" id="{DC0A037B-AA3D-47F1-82AC-373729A6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867400"/>
            <a:ext cx="518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5F6B72"/>
                </a:solidFill>
              </a:defRPr>
            </a:pPr>
            <a:r>
              <a:rPr sz="1575">
                <a:solidFill>
                  <a:srgbClr val="5F6B72"/>
                </a:solidFill>
              </a:rPr>
              <a:t>soma do drift ao longo da cadeia</a:t>
            </a:r>
          </a:p>
        </p:txBody>
      </p:sp>
      <p:sp>
        <p:nvSpPr>
          <p:cNvPr id="10" name="pill-original">
            <a:extLst xmlns:a="http://schemas.openxmlformats.org/drawingml/2006/main">
              <a:ext uri="{FF2B5EF4-FFF2-40B4-BE49-F238E27FC236}">
                <a16:creationId xmlns:a16="http://schemas.microsoft.com/office/drawing/2014/main" id="{3328703F-05C2-42BD-9C54-76CBCC4A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63000"/>
            <a:ext cx="2000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260"/>
          </a:solidFill>
          <a:ln xmlns:a="http://schemas.openxmlformats.org/drawingml/2006/main" w="0">
            <a:solidFill>
              <a:srgbClr val="27726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FC2434-0DC2-4BD4-BD9E-1F762CA4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877300"/>
            <a:ext cx="1676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original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898F54-B14E-47DF-98A2-C0255C38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89344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13" name="pill-persona-a">
            <a:extLst xmlns:a="http://schemas.openxmlformats.org/drawingml/2006/main">
              <a:ext uri="{FF2B5EF4-FFF2-40B4-BE49-F238E27FC236}">
                <a16:creationId xmlns:a16="http://schemas.microsoft.com/office/drawing/2014/main" id="{8A84EA19-4309-4A1A-9D20-BA459CFE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8763000"/>
            <a:ext cx="2000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A0"/>
          </a:solidFill>
          <a:ln xmlns:a="http://schemas.openxmlformats.org/drawingml/2006/main" w="0">
            <a:solidFill>
              <a:srgbClr val="356AA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1E0FCB-334F-49BA-97CB-841D2A80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8877300"/>
            <a:ext cx="1676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persona 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EAB958-73DF-4681-A997-E90E6972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89344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16" name="pill-persona-b">
            <a:extLst xmlns:a="http://schemas.openxmlformats.org/drawingml/2006/main">
              <a:ext uri="{FF2B5EF4-FFF2-40B4-BE49-F238E27FC236}">
                <a16:creationId xmlns:a16="http://schemas.microsoft.com/office/drawing/2014/main" id="{A388E881-908B-443F-B798-77551C08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8763000"/>
            <a:ext cx="2000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4D78"/>
          </a:solidFill>
          <a:ln xmlns:a="http://schemas.openxmlformats.org/drawingml/2006/main" w="0">
            <a:solidFill>
              <a:srgbClr val="684D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520E09-B925-48AD-B886-4A126FD5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8877300"/>
            <a:ext cx="1676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persona 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A21648-E882-4F9B-A27A-2D36E106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89344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19" name="pill-persona-c">
            <a:extLst xmlns:a="http://schemas.openxmlformats.org/drawingml/2006/main">
              <a:ext uri="{FF2B5EF4-FFF2-40B4-BE49-F238E27FC236}">
                <a16:creationId xmlns:a16="http://schemas.microsoft.com/office/drawing/2014/main" id="{81A7361B-4391-431A-8B07-9E9D1D5A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8763000"/>
            <a:ext cx="2000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5345"/>
          </a:solidFill>
          <a:ln xmlns:a="http://schemas.openxmlformats.org/drawingml/2006/main" w="0">
            <a:solidFill>
              <a:srgbClr val="B5534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7AC0B1-2A14-4A64-9ABA-8C47184F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8877300"/>
            <a:ext cx="1676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persona C</a:t>
            </a:r>
          </a:p>
        </p:txBody>
      </p:sp>
      <p:sp>
        <p:nvSpPr>
          <p:cNvPr id="21" name="footer">
            <a:extLst xmlns:a="http://schemas.openxmlformats.org/drawingml/2006/main">
              <a:ext uri="{FF2B5EF4-FFF2-40B4-BE49-F238E27FC236}">
                <a16:creationId xmlns:a16="http://schemas.microsoft.com/office/drawing/2014/main" id="{8B37E995-6A3D-4E32-9E50-B232F9F7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67850"/>
            <a:ext cx="16459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D8589"/>
                </a:solidFill>
              </a:defRPr>
            </a:pPr>
            <a:r>
              <a:rPr sz="1125">
                <a:solidFill>
                  <a:srgbClr val="7D8589"/>
                </a:solidFill>
              </a:rPr>
              <a:t>Funções: calculate_stdi_chain_metrics, annotate_stdi_for_rewrites e annotate_stdi_for_version_chain.</a:t>
            </a:r>
          </a:p>
        </p:txBody>
      </p:sp>
    </p:spTree>
    <p:extLst>
      <p:ext uri="{BB962C8B-B14F-4D97-AF65-F5344CB8AC3E}">
        <p14:creationId xmlns:p14="http://schemas.microsoft.com/office/powerpoint/2010/main" val="2797249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F66F274-59D0-4E33-945C-5FED5343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373CF5-4037-445B-A401-25416BD2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78676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026"/>
                </a:solidFill>
              </a:defRPr>
            </a:pPr>
            <a:r>
              <a:rPr sz="4350" b="1">
                <a:solidFill>
                  <a:srgbClr val="172026"/>
                </a:solidFill>
              </a:rPr>
              <a:t>VAD adiciona a camada emocional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25E9EA4-B4F7-4A3D-8E31-0A5EE427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0706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F6B72"/>
                </a:solidFill>
              </a:defRPr>
            </a:pPr>
            <a:r>
              <a:rPr sz="1875">
                <a:solidFill>
                  <a:srgbClr val="5F6B72"/>
                </a:solidFill>
              </a:rPr>
              <a:t>O estudo Fake vs True mostrou diferenças consistentes de valência, arousal e dominância entre notícias falsas e reais.</a:t>
            </a:r>
          </a:p>
        </p:txBody>
      </p:sp>
      <p:sp>
        <p:nvSpPr>
          <p:cNvPr id="4" name="pill-true">
            <a:extLst xmlns:a="http://schemas.openxmlformats.org/drawingml/2006/main">
              <a:ext uri="{FF2B5EF4-FFF2-40B4-BE49-F238E27FC236}">
                <a16:creationId xmlns:a16="http://schemas.microsoft.com/office/drawing/2014/main" id="{5DF84A15-E477-48C4-B93E-15F842EC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827" y="4838700"/>
            <a:ext cx="1219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260"/>
          </a:solidFill>
          <a:ln xmlns:a="http://schemas.openxmlformats.org/drawingml/2006/main" w="0">
            <a:solidFill>
              <a:srgbClr val="27726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5142B-1B39-449E-86DC-3D734F31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95300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True</a:t>
            </a:r>
          </a:p>
        </p:txBody>
      </p:sp>
      <p:sp>
        <p:nvSpPr>
          <p:cNvPr id="6" name="pill-fake">
            <a:extLst xmlns:a="http://schemas.openxmlformats.org/drawingml/2006/main">
              <a:ext uri="{FF2B5EF4-FFF2-40B4-BE49-F238E27FC236}">
                <a16:creationId xmlns:a16="http://schemas.microsoft.com/office/drawing/2014/main" id="{2B0AA9F3-F23E-4D57-9E72-9350EF8D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0628" y="4838700"/>
            <a:ext cx="1219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5345"/>
          </a:solidFill>
          <a:ln xmlns:a="http://schemas.openxmlformats.org/drawingml/2006/main" w="0">
            <a:solidFill>
              <a:srgbClr val="B553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D31DB-1A44-432B-B57F-79506121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5300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7E9269-5B2D-4949-A35D-47A79567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6"/>
                </a:solidFill>
              </a:defRPr>
            </a:pPr>
            <a:r>
              <a:rPr sz="1650" b="1">
                <a:solidFill>
                  <a:srgbClr val="172026"/>
                </a:solidFill>
              </a:rPr>
              <a:t>Valência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4CBB1-5497-44D2-8094-F5F86EE9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86400"/>
            <a:ext cx="2286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260"/>
          </a:solidFill>
          <a:ln xmlns:a="http://schemas.openxmlformats.org/drawingml/2006/main" w="0">
            <a:solidFill>
              <a:srgbClr val="27726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024AA-A60A-4426-AD90-4E51E5F4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86400"/>
            <a:ext cx="5334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1D6"/>
          </a:solidFill>
          <a:ln xmlns:a="http://schemas.openxmlformats.org/drawingml/2006/main" w="0">
            <a:solidFill>
              <a:srgbClr val="E8E1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785F94-2EE9-4579-8C39-81E6CED5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486400"/>
            <a:ext cx="704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77260"/>
                </a:solidFill>
              </a:defRPr>
            </a:pPr>
            <a:r>
              <a:rPr sz="1350">
                <a:solidFill>
                  <a:srgbClr val="277260"/>
                </a:solidFill>
              </a:rPr>
              <a:t>2.851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085A9C-8F87-49FE-BCDB-1CE5C974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2209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5345"/>
          </a:solidFill>
          <a:ln xmlns:a="http://schemas.openxmlformats.org/drawingml/2006/main" w="0">
            <a:solidFill>
              <a:srgbClr val="B553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3A6555-1286-4D8B-BE2D-708AFB3C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486400"/>
            <a:ext cx="571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1D6"/>
          </a:solidFill>
          <a:ln xmlns:a="http://schemas.openxmlformats.org/drawingml/2006/main" w="0">
            <a:solidFill>
              <a:srgbClr val="E8E1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EAE1EB-CD6E-4D87-9CAC-6A9DF8A3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486400"/>
            <a:ext cx="704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B55345"/>
                </a:solidFill>
              </a:defRPr>
            </a:pPr>
            <a:r>
              <a:rPr sz="1350">
                <a:solidFill>
                  <a:srgbClr val="B55345"/>
                </a:solidFill>
              </a:rPr>
              <a:t>2.766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8BA55F-F817-4E00-9A65-C9B7A702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2455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6"/>
                </a:solidFill>
              </a:defRPr>
            </a:pPr>
            <a:r>
              <a:rPr sz="1650" b="1">
                <a:solidFill>
                  <a:srgbClr val="172026"/>
                </a:solidFill>
              </a:rPr>
              <a:t>Arousal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A2CD5F-6AF5-488E-BF9D-708766DF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943600"/>
            <a:ext cx="2514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260"/>
          </a:solidFill>
          <a:ln xmlns:a="http://schemas.openxmlformats.org/drawingml/2006/main" w="0">
            <a:solidFill>
              <a:srgbClr val="27726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323DD-BC44-4534-91E7-0730DDCA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943600"/>
            <a:ext cx="2667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1D6"/>
          </a:solidFill>
          <a:ln xmlns:a="http://schemas.openxmlformats.org/drawingml/2006/main" w="0">
            <a:solidFill>
              <a:srgbClr val="E8E1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4B15A1-A5F3-400A-B51B-4D54FA8E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943600"/>
            <a:ext cx="704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77260"/>
                </a:solidFill>
              </a:defRPr>
            </a:pPr>
            <a:r>
              <a:rPr sz="1350">
                <a:solidFill>
                  <a:srgbClr val="277260"/>
                </a:solidFill>
              </a:rPr>
              <a:t>3.148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43D411-5725-4F70-9513-31743D6B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943600"/>
            <a:ext cx="2667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5345"/>
          </a:solidFill>
          <a:ln xmlns:a="http://schemas.openxmlformats.org/drawingml/2006/main" w="0">
            <a:solidFill>
              <a:srgbClr val="B5534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597985-7BA3-4584-B614-BD6A2264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943600"/>
            <a:ext cx="1524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1D6"/>
          </a:solidFill>
          <a:ln xmlns:a="http://schemas.openxmlformats.org/drawingml/2006/main" w="0">
            <a:solidFill>
              <a:srgbClr val="E8E1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BF650C-B985-40B5-8A22-D227B01B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943600"/>
            <a:ext cx="704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B55345"/>
                </a:solidFill>
              </a:defRPr>
            </a:pPr>
            <a:r>
              <a:rPr sz="1350">
                <a:solidFill>
                  <a:srgbClr val="B55345"/>
                </a:solidFill>
              </a:rPr>
              <a:t>3.324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0A7F1C-B7A7-435D-AEEC-33EA377E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8175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6"/>
                </a:solidFill>
              </a:defRPr>
            </a:pPr>
            <a:r>
              <a:rPr sz="1650" b="1">
                <a:solidFill>
                  <a:srgbClr val="172026"/>
                </a:solidFill>
              </a:rPr>
              <a:t>Dominância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A83193-A2AB-4ADB-BD62-B84F153F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400800"/>
            <a:ext cx="2514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260"/>
          </a:solidFill>
          <a:ln xmlns:a="http://schemas.openxmlformats.org/drawingml/2006/main" w="0">
            <a:solidFill>
              <a:srgbClr val="27726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B7DD7C-C810-4AB6-9A59-D6DBA18E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00800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1D6"/>
          </a:solidFill>
          <a:ln xmlns:a="http://schemas.openxmlformats.org/drawingml/2006/main" w="0">
            <a:solidFill>
              <a:srgbClr val="E8E1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D8A375-8E9C-4403-88BB-EC935BC8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400800"/>
            <a:ext cx="704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77260"/>
                </a:solidFill>
              </a:defRPr>
            </a:pPr>
            <a:r>
              <a:rPr sz="1350">
                <a:solidFill>
                  <a:srgbClr val="277260"/>
                </a:solidFill>
              </a:rPr>
              <a:t>3.126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AF4226-10A4-4A85-8C26-80F4D7AA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00800"/>
            <a:ext cx="2514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5345"/>
          </a:solidFill>
          <a:ln xmlns:a="http://schemas.openxmlformats.org/drawingml/2006/main" w="0">
            <a:solidFill>
              <a:srgbClr val="B5534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036D25-0B24-42C5-9B68-7A67178A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00800"/>
            <a:ext cx="2667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1D6"/>
          </a:solidFill>
          <a:ln xmlns:a="http://schemas.openxmlformats.org/drawingml/2006/main" w="0">
            <a:solidFill>
              <a:srgbClr val="E8E1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0A859F-B4BB-42C9-BDAA-361ACFF6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400800"/>
            <a:ext cx="704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B55345"/>
                </a:solidFill>
              </a:defRPr>
            </a:pPr>
            <a:r>
              <a:rPr sz="1350">
                <a:solidFill>
                  <a:srgbClr val="B55345"/>
                </a:solidFill>
              </a:rPr>
              <a:t>3.157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6ECC1B-5BC4-4439-9863-F41A5EB5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38950"/>
            <a:ext cx="914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F6B72"/>
                </a:solidFill>
              </a:defRPr>
            </a:pPr>
            <a:r>
              <a:rPr sz="1200">
                <a:solidFill>
                  <a:srgbClr val="5F6B72"/>
                </a:solidFill>
              </a:rPr>
              <a:t>Escala VAD prevista pelo modelo; barras normalizadas para leitura comparativa.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AF9865-CBF3-4AE6-991D-5301753C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686300"/>
            <a:ext cx="6743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26"/>
                </a:solidFill>
              </a:defRPr>
            </a:pPr>
            <a:r>
              <a:rPr sz="2700" b="1">
                <a:solidFill>
                  <a:srgbClr val="172026"/>
                </a:solidFill>
              </a:rPr>
              <a:t>Sinais observados</a:t>
            </a:r>
          </a:p>
        </p:txBody>
      </p:sp>
      <p:sp>
        <p:nvSpPr>
          <p:cNvPr id="31" name="bullet-mark-0">
            <a:extLst xmlns:a="http://schemas.openxmlformats.org/drawingml/2006/main">
              <a:ext uri="{FF2B5EF4-FFF2-40B4-BE49-F238E27FC236}">
                <a16:creationId xmlns:a16="http://schemas.microsoft.com/office/drawing/2014/main" id="{B7772F05-DD3A-4C91-A4F5-6AE64894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276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9B2D"/>
          </a:solidFill>
          <a:ln xmlns:a="http://schemas.openxmlformats.org/drawingml/2006/main" w="0">
            <a:solidFill>
              <a:srgbClr val="D69B2D"/>
            </a:solidFill>
            <a:prstDash val="solid"/>
          </a:ln>
        </p:spPr>
      </p:sp>
      <p:sp>
        <p:nvSpPr>
          <p:cNvPr id="32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82CB5B86-BD7C-4465-8D5F-E24F8F96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5276850"/>
            <a:ext cx="647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26"/>
                </a:solidFill>
              </a:defRPr>
            </a:pPr>
            <a:r>
              <a:rPr sz="1800">
                <a:solidFill>
                  <a:srgbClr val="172026"/>
                </a:solidFill>
              </a:rPr>
              <a:t>Fake: menor valência média, sugerindo tom mais negativo.</a:t>
            </a:r>
          </a:p>
        </p:txBody>
      </p:sp>
      <p:sp>
        <p:nvSpPr>
          <p:cNvPr id="33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11F43529-7071-4A8C-931E-BB4C7CA0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6769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9B2D"/>
          </a:solidFill>
          <a:ln xmlns:a="http://schemas.openxmlformats.org/drawingml/2006/main" w="0">
            <a:solidFill>
              <a:srgbClr val="D69B2D"/>
            </a:solidFill>
            <a:prstDash val="solid"/>
          </a:ln>
        </p:spPr>
      </p:sp>
      <p:sp>
        <p:nvSpPr>
          <p:cNvPr id="34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CFCC5F07-1337-4266-9993-E4254D90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5676900"/>
            <a:ext cx="6477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26"/>
                </a:solidFill>
              </a:defRPr>
            </a:pPr>
            <a:r>
              <a:rPr sz="1800">
                <a:solidFill>
                  <a:srgbClr val="172026"/>
                </a:solidFill>
              </a:rPr>
              <a:t>Fake: arousal bem maior, indicando linguagem mais intensa/ativadora.</a:t>
            </a:r>
          </a:p>
        </p:txBody>
      </p:sp>
      <p:sp>
        <p:nvSpPr>
          <p:cNvPr id="35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10433CD4-4663-4C76-A909-181B73A5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055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9B2D"/>
          </a:solidFill>
          <a:ln xmlns:a="http://schemas.openxmlformats.org/drawingml/2006/main" w="0">
            <a:solidFill>
              <a:srgbClr val="D69B2D"/>
            </a:solidFill>
            <a:prstDash val="solid"/>
          </a:ln>
        </p:spPr>
      </p:sp>
      <p:sp>
        <p:nvSpPr>
          <p:cNvPr id="36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161E03FA-C3CF-45A4-BCDD-7B6DAA28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05550"/>
            <a:ext cx="6477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26"/>
                </a:solidFill>
              </a:defRPr>
            </a:pPr>
            <a:r>
              <a:rPr sz="1800">
                <a:solidFill>
                  <a:srgbClr val="172026"/>
                </a:solidFill>
              </a:rPr>
              <a:t>Dominância teve diferença menor, mas estatisticamente visível no conjunto.</a:t>
            </a:r>
          </a:p>
        </p:txBody>
      </p:sp>
      <p:sp>
        <p:nvSpPr>
          <p:cNvPr id="37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CD63784F-7B16-4B98-A230-D6C42E16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9342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9B2D"/>
          </a:solidFill>
          <a:ln xmlns:a="http://schemas.openxmlformats.org/drawingml/2006/main" w="0">
            <a:solidFill>
              <a:srgbClr val="D69B2D"/>
            </a:solidFill>
            <a:prstDash val="solid"/>
          </a:ln>
        </p:spPr>
      </p:sp>
      <p:sp>
        <p:nvSpPr>
          <p:cNvPr id="38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4AF474DE-DD0C-4BCF-A6A1-D8F3C65C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934200"/>
            <a:ext cx="647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26"/>
                </a:solidFill>
              </a:defRPr>
            </a:pPr>
            <a:r>
              <a:rPr sz="1800">
                <a:solidFill>
                  <a:srgbClr val="172026"/>
                </a:solidFill>
              </a:rPr>
              <a:t>No STDI com VAD, o drift emocional entra com peso 0,20.</a:t>
            </a:r>
          </a:p>
        </p:txBody>
      </p:sp>
      <p:sp>
        <p:nvSpPr>
          <p:cNvPr id="39" name="footer">
            <a:extLst xmlns:a="http://schemas.openxmlformats.org/drawingml/2006/main">
              <a:ext uri="{FF2B5EF4-FFF2-40B4-BE49-F238E27FC236}">
                <a16:creationId xmlns:a16="http://schemas.microsoft.com/office/drawing/2014/main" id="{5C0180C9-B723-4B7C-A2A9-C244C4BD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67850"/>
            <a:ext cx="16459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D8589"/>
                </a:solidFill>
              </a:defRPr>
            </a:pPr>
            <a:r>
              <a:rPr sz="1125">
                <a:solidFill>
                  <a:srgbClr val="7D8589"/>
                </a:solidFill>
              </a:rPr>
              <a:t>Modelo VAD: RobroKools/vad-bert. Amostras: 10.000 fake e 10.000 true.</a:t>
            </a:r>
          </a:p>
        </p:txBody>
      </p:sp>
    </p:spTree>
    <p:extLst>
      <p:ext uri="{BB962C8B-B14F-4D97-AF65-F5344CB8AC3E}">
        <p14:creationId xmlns:p14="http://schemas.microsoft.com/office/powerpoint/2010/main" val="183709198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B75F759-CE1D-468E-A9C5-786044DC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5D89BE-D59A-41FD-A6D8-FAEC3B10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22301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026"/>
                </a:solidFill>
              </a:defRPr>
            </a:pPr>
            <a:r>
              <a:rPr sz="4350" b="1">
                <a:solidFill>
                  <a:srgbClr val="172026"/>
                </a:solidFill>
              </a:rPr>
              <a:t>A simulação evoluiu para um grafo de interação entre personalidades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1517480-9F33-4166-8AC6-972627A1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9944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F6B72"/>
                </a:solidFill>
              </a:defRPr>
            </a:pPr>
            <a:r>
              <a:rPr sz="1875">
                <a:solidFill>
                  <a:srgbClr val="5F6B72"/>
                </a:solidFill>
              </a:rPr>
              <a:t>A reescrita deixou de ser um evento isolado e passou a ser uma cadeia configurável de transformações.</a:t>
            </a:r>
          </a:p>
        </p:txBody>
      </p:sp>
      <p:sp>
        <p:nvSpPr>
          <p:cNvPr id="4" name="pill-notícia">
            <a:extLst xmlns:a="http://schemas.openxmlformats.org/drawingml/2006/main">
              <a:ext uri="{FF2B5EF4-FFF2-40B4-BE49-F238E27FC236}">
                <a16:creationId xmlns:a16="http://schemas.microsoft.com/office/drawing/2014/main" id="{27EDBB96-AE50-4263-8832-9BFA089D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1809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260"/>
          </a:solidFill>
          <a:ln xmlns:a="http://schemas.openxmlformats.org/drawingml/2006/main" w="0">
            <a:solidFill>
              <a:srgbClr val="27726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29D74-EEA7-416B-9EBE-3BD3AA3D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1485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notícia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A1A25-8EA1-40FD-A807-70E8C450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9911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7" name="pill-nó-1">
            <a:extLst xmlns:a="http://schemas.openxmlformats.org/drawingml/2006/main">
              <a:ext uri="{FF2B5EF4-FFF2-40B4-BE49-F238E27FC236}">
                <a16:creationId xmlns:a16="http://schemas.microsoft.com/office/drawing/2014/main" id="{22CBC2D0-C429-4DBB-BB25-F0DDC59E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991100"/>
            <a:ext cx="1619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A0"/>
          </a:solidFill>
          <a:ln xmlns:a="http://schemas.openxmlformats.org/drawingml/2006/main" w="0">
            <a:solidFill>
              <a:srgbClr val="356AA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42DF5F-0593-43EC-89B9-8C38B77D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129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nó 1</a:t>
            </a:r>
          </a:p>
        </p:txBody>
      </p:sp>
      <p:sp>
        <p:nvSpPr>
          <p:cNvPr id="9" name="pill-saída-1">
            <a:extLst xmlns:a="http://schemas.openxmlformats.org/drawingml/2006/main">
              <a:ext uri="{FF2B5EF4-FFF2-40B4-BE49-F238E27FC236}">
                <a16:creationId xmlns:a16="http://schemas.microsoft.com/office/drawing/2014/main" id="{DABFCE24-5A78-40F3-9AC4-265115E8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1809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8992"/>
          </a:solidFill>
          <a:ln xmlns:a="http://schemas.openxmlformats.org/drawingml/2006/main" w="0">
            <a:solidFill>
              <a:srgbClr val="1B899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E253E-EFB3-4594-83EC-AD38E643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715000"/>
            <a:ext cx="1485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saída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B36593-56A6-4D90-A6D5-22E38825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6007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12" name="pill-nó-2">
            <a:extLst xmlns:a="http://schemas.openxmlformats.org/drawingml/2006/main">
              <a:ext uri="{FF2B5EF4-FFF2-40B4-BE49-F238E27FC236}">
                <a16:creationId xmlns:a16="http://schemas.microsoft.com/office/drawing/2014/main" id="{74532A67-B10F-4110-A67E-10D682E7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600700"/>
            <a:ext cx="1619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4D78"/>
          </a:solidFill>
          <a:ln xmlns:a="http://schemas.openxmlformats.org/drawingml/2006/main" w="0">
            <a:solidFill>
              <a:srgbClr val="684D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0EB291-0D3B-4DF2-A930-ECB82489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715000"/>
            <a:ext cx="129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nó 2</a:t>
            </a:r>
          </a:p>
        </p:txBody>
      </p:sp>
      <p:sp>
        <p:nvSpPr>
          <p:cNvPr id="14" name="pill-saída-2">
            <a:extLst xmlns:a="http://schemas.openxmlformats.org/drawingml/2006/main">
              <a:ext uri="{FF2B5EF4-FFF2-40B4-BE49-F238E27FC236}">
                <a16:creationId xmlns:a16="http://schemas.microsoft.com/office/drawing/2014/main" id="{D91B8BC9-E425-4A81-84C1-AB693493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10300"/>
            <a:ext cx="1809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9B2D"/>
          </a:solidFill>
          <a:ln xmlns:a="http://schemas.openxmlformats.org/drawingml/2006/main" w="0">
            <a:solidFill>
              <a:srgbClr val="D69B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061C61-665C-4E4C-A8D2-287779CF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324600"/>
            <a:ext cx="1485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saída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8A7D46-B0D8-4AD9-B985-AC0340CB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2103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17" name="pill-stdi">
            <a:extLst xmlns:a="http://schemas.openxmlformats.org/drawingml/2006/main">
              <a:ext uri="{FF2B5EF4-FFF2-40B4-BE49-F238E27FC236}">
                <a16:creationId xmlns:a16="http://schemas.microsoft.com/office/drawing/2014/main" id="{3CBAE98E-FF94-4EC7-9DD3-A2CBA903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210300"/>
            <a:ext cx="1619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5345"/>
          </a:solidFill>
          <a:ln xmlns:a="http://schemas.openxmlformats.org/drawingml/2006/main" w="0">
            <a:solidFill>
              <a:srgbClr val="B5534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FE2F90-A74A-427B-8350-715D4198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324600"/>
            <a:ext cx="129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STDI</a:t>
            </a:r>
          </a:p>
        </p:txBody>
      </p:sp>
      <p:sp>
        <p:nvSpPr>
          <p:cNvPr id="19" name="bullet-mark-0">
            <a:extLst xmlns:a="http://schemas.openxmlformats.org/drawingml/2006/main">
              <a:ext uri="{FF2B5EF4-FFF2-40B4-BE49-F238E27FC236}">
                <a16:creationId xmlns:a16="http://schemas.microsoft.com/office/drawing/2014/main" id="{C7C7B035-DABE-478A-A418-ACE7A775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24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4D78"/>
          </a:solidFill>
          <a:ln xmlns:a="http://schemas.openxmlformats.org/drawingml/2006/main" w="0">
            <a:solidFill>
              <a:srgbClr val="684D78"/>
            </a:solidFill>
            <a:prstDash val="solid"/>
          </a:ln>
        </p:spPr>
      </p:sp>
      <p:sp>
        <p:nvSpPr>
          <p:cNvPr id="20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D9A90361-66D4-42E0-8829-FC594ECE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724400"/>
            <a:ext cx="7296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26"/>
                </a:solidFill>
              </a:defRPr>
            </a:pPr>
            <a:r>
              <a:rPr sz="1875">
                <a:solidFill>
                  <a:srgbClr val="172026"/>
                </a:solidFill>
              </a:rPr>
              <a:t>Cada nó define provedor, modelo e personalidade.</a:t>
            </a:r>
          </a:p>
        </p:txBody>
      </p:sp>
      <p:sp>
        <p:nvSpPr>
          <p:cNvPr id="21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1AE3724F-1EAF-43B3-972F-3F6B176E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435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4D78"/>
          </a:solidFill>
          <a:ln xmlns:a="http://schemas.openxmlformats.org/drawingml/2006/main" w="0">
            <a:solidFill>
              <a:srgbClr val="684D78"/>
            </a:solidFill>
            <a:prstDash val="solid"/>
          </a:ln>
        </p:spPr>
      </p:sp>
      <p:sp>
        <p:nvSpPr>
          <p:cNvPr id="22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08F28D68-8A39-4278-BBE2-55031BB9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143500"/>
            <a:ext cx="72961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26"/>
                </a:solidFill>
              </a:defRPr>
            </a:pPr>
            <a:r>
              <a:rPr sz="1875">
                <a:solidFill>
                  <a:srgbClr val="172026"/>
                </a:solidFill>
              </a:rPr>
              <a:t>O backend normaliza uma cadeia conectada e executa os passos em ordem topológica.</a:t>
            </a:r>
          </a:p>
        </p:txBody>
      </p:sp>
      <p:sp>
        <p:nvSpPr>
          <p:cNvPr id="23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39BE99B1-0DF5-4E9D-88C1-B1D24828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7912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4D78"/>
          </a:solidFill>
          <a:ln xmlns:a="http://schemas.openxmlformats.org/drawingml/2006/main" w="0">
            <a:solidFill>
              <a:srgbClr val="684D78"/>
            </a:solidFill>
            <a:prstDash val="solid"/>
          </a:ln>
        </p:spPr>
      </p:sp>
      <p:sp>
        <p:nvSpPr>
          <p:cNvPr id="24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167AC366-61A7-4063-9927-F9761438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791200"/>
            <a:ext cx="72961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26"/>
                </a:solidFill>
              </a:defRPr>
            </a:pPr>
            <a:r>
              <a:rPr sz="1875">
                <a:solidFill>
                  <a:srgbClr val="172026"/>
                </a:solidFill>
              </a:rPr>
              <a:t>Cada passo salva texto de origem, texto reescrito, status, erro, estrutura tópica e métricas.</a:t>
            </a:r>
          </a:p>
        </p:txBody>
      </p:sp>
      <p:sp>
        <p:nvSpPr>
          <p:cNvPr id="25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C2111A07-EB7E-4523-AB46-A0879A56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389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4D78"/>
          </a:solidFill>
          <a:ln xmlns:a="http://schemas.openxmlformats.org/drawingml/2006/main" w="0">
            <a:solidFill>
              <a:srgbClr val="684D78"/>
            </a:solidFill>
            <a:prstDash val="solid"/>
          </a:ln>
        </p:spPr>
      </p:sp>
      <p:sp>
        <p:nvSpPr>
          <p:cNvPr id="26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BBC470F4-4D61-41DD-997D-9F5C979A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438900"/>
            <a:ext cx="72961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26"/>
                </a:solidFill>
              </a:defRPr>
            </a:pPr>
            <a:r>
              <a:rPr sz="1875">
                <a:solidFill>
                  <a:srgbClr val="172026"/>
                </a:solidFill>
              </a:rPr>
              <a:t>A execução inclui retry, rate limit, fallback de título e persistência em JSON/JSONL.</a:t>
            </a:r>
          </a:p>
        </p:txBody>
      </p:sp>
      <p:sp>
        <p:nvSpPr>
          <p:cNvPr id="27" name="footer">
            <a:extLst xmlns:a="http://schemas.openxmlformats.org/drawingml/2006/main">
              <a:ext uri="{FF2B5EF4-FFF2-40B4-BE49-F238E27FC236}">
                <a16:creationId xmlns:a16="http://schemas.microsoft.com/office/drawing/2014/main" id="{82762D33-24CD-4338-929A-36E76DE3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67850"/>
            <a:ext cx="16459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D8589"/>
                </a:solidFill>
              </a:defRPr>
            </a:pPr>
            <a:r>
              <a:rPr sz="1125">
                <a:solidFill>
                  <a:srgbClr val="7D8589"/>
                </a:solidFill>
              </a:rPr>
              <a:t>Implementado em src/misinformation_simulation/simulation/graph.py e scripts/run_interaction_graph.py.</a:t>
            </a:r>
          </a:p>
        </p:txBody>
      </p:sp>
    </p:spTree>
    <p:extLst>
      <p:ext uri="{BB962C8B-B14F-4D97-AF65-F5344CB8AC3E}">
        <p14:creationId xmlns:p14="http://schemas.microsoft.com/office/powerpoint/2010/main" val="53407149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C56940B-06D2-44DD-919D-8A185D4C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159680-53B2-4D5E-9701-7D9E5849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9537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026"/>
                </a:solidFill>
              </a:defRPr>
            </a:pPr>
            <a:r>
              <a:rPr sz="4350" b="1">
                <a:solidFill>
                  <a:srgbClr val="172026"/>
                </a:solidFill>
              </a:rPr>
              <a:t>A interface visual tornou a simulação explorável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7CC0214-5669-42CB-9F92-C52E8F25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0953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F6B72"/>
                </a:solidFill>
              </a:defRPr>
            </a:pPr>
            <a:r>
              <a:rPr sz="1875">
                <a:solidFill>
                  <a:srgbClr val="5F6B72"/>
                </a:solidFill>
              </a:rPr>
              <a:t>O Streamlit Studio reduz o atrito para montar grafos, escolher personalidades e inspecionar resultados sem editar JSON manualmente.</a:t>
            </a:r>
          </a:p>
        </p:txBody>
      </p:sp>
      <p:sp>
        <p:nvSpPr>
          <p:cNvPr id="4" name="ui-data">
            <a:extLst xmlns:a="http://schemas.openxmlformats.org/drawingml/2006/main">
              <a:ext uri="{FF2B5EF4-FFF2-40B4-BE49-F238E27FC236}">
                <a16:creationId xmlns:a16="http://schemas.microsoft.com/office/drawing/2014/main" id="{3FDC4D3B-EA5F-45C3-A9D0-631536D4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5232400" cy="4572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0C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F245E-C411-49ED-A2EE-2C1BD5DA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24300"/>
            <a:ext cx="4667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77260"/>
                </a:solidFill>
              </a:defRPr>
            </a:pPr>
            <a:r>
              <a:rPr sz="2625" b="1">
                <a:solidFill>
                  <a:srgbClr val="277260"/>
                </a:solidFill>
              </a:rPr>
              <a:t>Dados</a:t>
            </a:r>
          </a:p>
        </p:txBody>
      </p:sp>
      <p:sp>
        <p:nvSpPr>
          <p:cNvPr id="6" name="bullet-mark-0">
            <a:extLst xmlns:a="http://schemas.openxmlformats.org/drawingml/2006/main">
              <a:ext uri="{FF2B5EF4-FFF2-40B4-BE49-F238E27FC236}">
                <a16:creationId xmlns:a16="http://schemas.microsoft.com/office/drawing/2014/main" id="{17D7BF44-F415-4276-970C-C323882B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57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260"/>
          </a:solidFill>
          <a:ln xmlns:a="http://schemas.openxmlformats.org/drawingml/2006/main" w="0">
            <a:solidFill>
              <a:srgbClr val="277260"/>
            </a:solidFill>
            <a:prstDash val="solid"/>
          </a:ln>
        </p:spPr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75C80729-4999-493A-9BBA-716EF421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57700"/>
            <a:ext cx="4400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026"/>
                </a:solidFill>
              </a:defRPr>
            </a:pPr>
            <a:r>
              <a:rPr sz="1650">
                <a:solidFill>
                  <a:srgbClr val="172026"/>
                </a:solidFill>
              </a:rPr>
              <a:t>carregar CSV/JSON/JSONL</a:t>
            </a:r>
          </a:p>
        </p:txBody>
      </p:sp>
      <p:sp>
        <p:nvSpPr>
          <p:cNvPr id="8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7B949F40-70DB-4578-950C-A3F030D3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815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260"/>
          </a:solidFill>
          <a:ln xmlns:a="http://schemas.openxmlformats.org/drawingml/2006/main" w="0">
            <a:solidFill>
              <a:srgbClr val="277260"/>
            </a:solidFill>
            <a:prstDash val="solid"/>
          </a:ln>
        </p:spPr>
      </p:sp>
      <p:sp>
        <p:nvSpPr>
          <p:cNvPr id="9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01501E4E-353C-402D-9026-7A325A41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81550"/>
            <a:ext cx="4400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026"/>
                </a:solidFill>
              </a:defRPr>
            </a:pPr>
            <a:r>
              <a:rPr sz="1650">
                <a:solidFill>
                  <a:srgbClr val="172026"/>
                </a:solidFill>
              </a:rPr>
              <a:t>pré-visualizar colunas</a:t>
            </a:r>
          </a:p>
        </p:txBody>
      </p:sp>
      <p:sp>
        <p:nvSpPr>
          <p:cNvPr id="10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B75C4D97-A154-45A8-94C4-A8560013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05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260"/>
          </a:solidFill>
          <a:ln xmlns:a="http://schemas.openxmlformats.org/drawingml/2006/main" w="0">
            <a:solidFill>
              <a:srgbClr val="277260"/>
            </a:solidFill>
            <a:prstDash val="solid"/>
          </a:ln>
        </p:spPr>
      </p:sp>
      <p:sp>
        <p:nvSpPr>
          <p:cNvPr id="11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6A1CC224-C920-4ABC-8D25-1CABA5E3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05400"/>
            <a:ext cx="4400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026"/>
                </a:solidFill>
              </a:defRPr>
            </a:pPr>
            <a:r>
              <a:rPr sz="1650">
                <a:solidFill>
                  <a:srgbClr val="172026"/>
                </a:solidFill>
              </a:rPr>
              <a:t>selecionar texto, título e id</a:t>
            </a:r>
          </a:p>
        </p:txBody>
      </p:sp>
      <p:sp>
        <p:nvSpPr>
          <p:cNvPr id="12" name="ui-editor">
            <a:extLst xmlns:a="http://schemas.openxmlformats.org/drawingml/2006/main">
              <a:ext uri="{FF2B5EF4-FFF2-40B4-BE49-F238E27FC236}">
                <a16:creationId xmlns:a16="http://schemas.microsoft.com/office/drawing/2014/main" id="{AC48869A-A26B-4711-B9C5-49008EAC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7800" y="3638550"/>
            <a:ext cx="5232400" cy="4572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0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E5D925-DF86-427E-8397-43ABD192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24300"/>
            <a:ext cx="4667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356AA0"/>
                </a:solidFill>
              </a:defRPr>
            </a:pPr>
            <a:r>
              <a:rPr sz="2625" b="1">
                <a:solidFill>
                  <a:srgbClr val="356AA0"/>
                </a:solidFill>
              </a:rPr>
              <a:t>Grafo</a:t>
            </a:r>
          </a:p>
        </p:txBody>
      </p:sp>
      <p:sp>
        <p:nvSpPr>
          <p:cNvPr id="14" name="bullet-mark-0">
            <a:extLst xmlns:a="http://schemas.openxmlformats.org/drawingml/2006/main">
              <a:ext uri="{FF2B5EF4-FFF2-40B4-BE49-F238E27FC236}">
                <a16:creationId xmlns:a16="http://schemas.microsoft.com/office/drawing/2014/main" id="{20BAAF82-B4DD-4842-AEBA-3A2AEE8D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57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A0"/>
          </a:solidFill>
          <a:ln xmlns:a="http://schemas.openxmlformats.org/drawingml/2006/main" w="0">
            <a:solidFill>
              <a:srgbClr val="356AA0"/>
            </a:solidFill>
            <a:prstDash val="solid"/>
          </a:ln>
        </p:spPr>
      </p:sp>
      <p:sp>
        <p:nvSpPr>
          <p:cNvPr id="15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074FE228-FC9B-49E2-9415-45420323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57700"/>
            <a:ext cx="4400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026"/>
                </a:solidFill>
              </a:defRPr>
            </a:pPr>
            <a:r>
              <a:rPr sz="1650">
                <a:solidFill>
                  <a:srgbClr val="172026"/>
                </a:solidFill>
              </a:rPr>
              <a:t>adicionar/remover nós</a:t>
            </a:r>
          </a:p>
        </p:txBody>
      </p:sp>
      <p:sp>
        <p:nvSpPr>
          <p:cNvPr id="16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C1FDFE62-AC1A-467A-90D4-F14D53D4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815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A0"/>
          </a:solidFill>
          <a:ln xmlns:a="http://schemas.openxmlformats.org/drawingml/2006/main" w="0">
            <a:solidFill>
              <a:srgbClr val="356AA0"/>
            </a:solidFill>
            <a:prstDash val="solid"/>
          </a:ln>
        </p:spPr>
      </p:sp>
      <p:sp>
        <p:nvSpPr>
          <p:cNvPr id="17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D44DBFBA-718E-46C2-9673-98A6E07D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81550"/>
            <a:ext cx="4400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026"/>
                </a:solidFill>
              </a:defRPr>
            </a:pPr>
            <a:r>
              <a:rPr sz="1650">
                <a:solidFill>
                  <a:srgbClr val="172026"/>
                </a:solidFill>
              </a:rPr>
              <a:t>reordenar cadeia</a:t>
            </a:r>
          </a:p>
        </p:txBody>
      </p:sp>
      <p:sp>
        <p:nvSpPr>
          <p:cNvPr id="18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9E4B8CC5-FE27-44BD-93E3-4B5FFD9F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105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A0"/>
          </a:solidFill>
          <a:ln xmlns:a="http://schemas.openxmlformats.org/drawingml/2006/main" w="0">
            <a:solidFill>
              <a:srgbClr val="356AA0"/>
            </a:solidFill>
            <a:prstDash val="solid"/>
          </a:ln>
        </p:spPr>
      </p:sp>
      <p:sp>
        <p:nvSpPr>
          <p:cNvPr id="19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FC7C8C5A-E905-4353-BACA-63CDC497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105400"/>
            <a:ext cx="4400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026"/>
                </a:solidFill>
              </a:defRPr>
            </a:pPr>
            <a:r>
              <a:rPr sz="1650">
                <a:solidFill>
                  <a:srgbClr val="172026"/>
                </a:solidFill>
              </a:rPr>
              <a:t>exportar configuração JSON</a:t>
            </a:r>
          </a:p>
        </p:txBody>
      </p:sp>
      <p:sp>
        <p:nvSpPr>
          <p:cNvPr id="20" name="ui-results">
            <a:extLst xmlns:a="http://schemas.openxmlformats.org/drawingml/2006/main">
              <a:ext uri="{FF2B5EF4-FFF2-40B4-BE49-F238E27FC236}">
                <a16:creationId xmlns:a16="http://schemas.microsoft.com/office/drawing/2014/main" id="{4F83C132-4ABD-4E96-BBAA-9C864F02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3638550"/>
            <a:ext cx="5232400" cy="4572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0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5B85D8-EEC9-4AAE-859E-4E9619C1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3924300"/>
            <a:ext cx="4667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B55345"/>
                </a:solidFill>
              </a:defRPr>
            </a:pPr>
            <a:r>
              <a:rPr sz="2625" b="1">
                <a:solidFill>
                  <a:srgbClr val="B55345"/>
                </a:solidFill>
              </a:rPr>
              <a:t>Resultados</a:t>
            </a:r>
          </a:p>
        </p:txBody>
      </p:sp>
      <p:sp>
        <p:nvSpPr>
          <p:cNvPr id="22" name="bullet-mark-0">
            <a:extLst xmlns:a="http://schemas.openxmlformats.org/drawingml/2006/main">
              <a:ext uri="{FF2B5EF4-FFF2-40B4-BE49-F238E27FC236}">
                <a16:creationId xmlns:a16="http://schemas.microsoft.com/office/drawing/2014/main" id="{EE9F938B-A09A-40DD-A959-9EAFEE7E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4457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5345"/>
          </a:solidFill>
          <a:ln xmlns:a="http://schemas.openxmlformats.org/drawingml/2006/main" w="0">
            <a:solidFill>
              <a:srgbClr val="B55345"/>
            </a:solidFill>
            <a:prstDash val="solid"/>
          </a:ln>
        </p:spPr>
      </p:sp>
      <p:sp>
        <p:nvSpPr>
          <p:cNvPr id="23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DC61DB51-0B91-4556-8917-9585E4FB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4457700"/>
            <a:ext cx="4400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026"/>
                </a:solidFill>
              </a:defRPr>
            </a:pPr>
            <a:r>
              <a:rPr sz="1650">
                <a:solidFill>
                  <a:srgbClr val="172026"/>
                </a:solidFill>
              </a:rPr>
              <a:t>resumo por nó</a:t>
            </a:r>
          </a:p>
        </p:txBody>
      </p:sp>
      <p:sp>
        <p:nvSpPr>
          <p:cNvPr id="24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F5C5DCD7-7FEB-4E03-B97E-25608304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47815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5345"/>
          </a:solidFill>
          <a:ln xmlns:a="http://schemas.openxmlformats.org/drawingml/2006/main" w="0">
            <a:solidFill>
              <a:srgbClr val="B55345"/>
            </a:solidFill>
            <a:prstDash val="solid"/>
          </a:ln>
        </p:spPr>
      </p:sp>
      <p:sp>
        <p:nvSpPr>
          <p:cNvPr id="25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EE033D95-6C42-41DB-B664-FFB4B506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4781550"/>
            <a:ext cx="4400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026"/>
                </a:solidFill>
              </a:defRPr>
            </a:pPr>
            <a:r>
              <a:rPr sz="1650">
                <a:solidFill>
                  <a:srgbClr val="172026"/>
                </a:solidFill>
              </a:rPr>
              <a:t>resumo por notícia</a:t>
            </a:r>
          </a:p>
        </p:txBody>
      </p:sp>
      <p:sp>
        <p:nvSpPr>
          <p:cNvPr id="26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DDC7DC55-92E1-4FAD-B3DE-C9DA5187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5105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5345"/>
          </a:solidFill>
          <a:ln xmlns:a="http://schemas.openxmlformats.org/drawingml/2006/main" w="0">
            <a:solidFill>
              <a:srgbClr val="B55345"/>
            </a:solidFill>
            <a:prstDash val="solid"/>
          </a:ln>
        </p:spPr>
      </p:sp>
      <p:sp>
        <p:nvSpPr>
          <p:cNvPr id="27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1DC4BAEC-475D-4DCC-ABB7-923BA937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5105400"/>
            <a:ext cx="4400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026"/>
                </a:solidFill>
              </a:defRPr>
            </a:pPr>
            <a:r>
              <a:rPr sz="1650">
                <a:solidFill>
                  <a:srgbClr val="172026"/>
                </a:solidFill>
              </a:rPr>
              <a:t>métricas e saídas por etapa</a:t>
            </a:r>
          </a:p>
        </p:txBody>
      </p:sp>
      <p:sp>
        <p:nvSpPr>
          <p:cNvPr id="28" name="footer">
            <a:extLst xmlns:a="http://schemas.openxmlformats.org/drawingml/2006/main">
              <a:ext uri="{FF2B5EF4-FFF2-40B4-BE49-F238E27FC236}">
                <a16:creationId xmlns:a16="http://schemas.microsoft.com/office/drawing/2014/main" id="{E2774C7F-2619-4CC7-9055-39D2CFDE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67850"/>
            <a:ext cx="16459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D8589"/>
                </a:solidFill>
              </a:defRPr>
            </a:pPr>
            <a:r>
              <a:rPr sz="1125">
                <a:solidFill>
                  <a:srgbClr val="7D8589"/>
                </a:solidFill>
              </a:rPr>
              <a:t>Interface: src/misinformation_simulation/apps/interaction_graph_app.py.</a:t>
            </a:r>
          </a:p>
        </p:txBody>
      </p:sp>
    </p:spTree>
    <p:extLst>
      <p:ext uri="{BB962C8B-B14F-4D97-AF65-F5344CB8AC3E}">
        <p14:creationId xmlns:p14="http://schemas.microsoft.com/office/powerpoint/2010/main" val="212810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9F7F273-EAC6-498E-992F-90DBCCD5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A2F0CE-2E33-4610-857D-463AA2D2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16967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026"/>
                </a:solidFill>
              </a:defRPr>
            </a:pPr>
            <a:r>
              <a:rPr sz="4350" b="1">
                <a:solidFill>
                  <a:srgbClr val="172026"/>
                </a:solidFill>
              </a:rPr>
              <a:t>Também houve amadurecimento de engenharia do projeto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F404574-0A69-449D-A1B8-C9BEFCAA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0706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F6B72"/>
                </a:solidFill>
              </a:defRPr>
            </a:pPr>
            <a:r>
              <a:rPr sz="1875">
                <a:solidFill>
                  <a:srgbClr val="5F6B72"/>
                </a:solidFill>
              </a:rPr>
              <a:t>Além dos experimentos, o trabalho ganhou organização reprodutível e pontos de extensão para novas análises.</a:t>
            </a:r>
          </a:p>
        </p:txBody>
      </p:sp>
      <p:sp>
        <p:nvSpPr>
          <p:cNvPr id="4" name="bullet-mark-0">
            <a:extLst xmlns:a="http://schemas.openxmlformats.org/drawingml/2006/main">
              <a:ext uri="{FF2B5EF4-FFF2-40B4-BE49-F238E27FC236}">
                <a16:creationId xmlns:a16="http://schemas.microsoft.com/office/drawing/2014/main" id="{36D4A888-B837-4DF1-8149-EC354E0F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260"/>
          </a:solidFill>
          <a:ln xmlns:a="http://schemas.openxmlformats.org/drawingml/2006/main" w="0">
            <a:solidFill>
              <a:srgbClr val="277260"/>
            </a:solidFill>
            <a:prstDash val="solid"/>
          </a:ln>
        </p:spPr>
      </p:sp>
      <p:sp>
        <p:nvSpPr>
          <p:cNvPr id="5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8A4A6ED2-DFDB-4CFD-A934-9AB05E78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48250"/>
            <a:ext cx="7639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2026"/>
                </a:solidFill>
              </a:defRPr>
            </a:pPr>
            <a:r>
              <a:rPr sz="1950">
                <a:solidFill>
                  <a:srgbClr val="172026"/>
                </a:solidFill>
              </a:rPr>
              <a:t>Pacote Python em src/misinformation_simulation.</a:t>
            </a:r>
          </a:p>
        </p:txBody>
      </p:sp>
      <p:sp>
        <p:nvSpPr>
          <p:cNvPr id="6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A6B70C34-CE07-43E4-AB0A-7F3DA732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260"/>
          </a:solidFill>
          <a:ln xmlns:a="http://schemas.openxmlformats.org/drawingml/2006/main" w="0">
            <a:solidFill>
              <a:srgbClr val="277260"/>
            </a:solidFill>
            <a:prstDash val="solid"/>
          </a:ln>
        </p:spPr>
      </p:sp>
      <p:sp>
        <p:nvSpPr>
          <p:cNvPr id="7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3F276A49-B4D8-4FA1-AAE6-3E001D49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67350"/>
            <a:ext cx="7639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2026"/>
                </a:solidFill>
              </a:defRPr>
            </a:pPr>
            <a:r>
              <a:rPr sz="1950">
                <a:solidFill>
                  <a:srgbClr val="172026"/>
                </a:solidFill>
              </a:rPr>
              <a:t>Comandos Make para setup, notebooks, lint, coleta de notícias e UI.</a:t>
            </a:r>
          </a:p>
        </p:txBody>
      </p:sp>
      <p:sp>
        <p:nvSpPr>
          <p:cNvPr id="8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E1A99131-75E6-418D-B8BC-3F2D075F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260"/>
          </a:solidFill>
          <a:ln xmlns:a="http://schemas.openxmlformats.org/drawingml/2006/main" w="0">
            <a:solidFill>
              <a:srgbClr val="277260"/>
            </a:solidFill>
            <a:prstDash val="solid"/>
          </a:ln>
        </p:spPr>
      </p:sp>
      <p:sp>
        <p:nvSpPr>
          <p:cNvPr id="9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1D369496-E12D-451E-98A4-28B54445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886450"/>
            <a:ext cx="7639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2026"/>
                </a:solidFill>
              </a:defRPr>
            </a:pPr>
            <a:r>
              <a:rPr sz="1950">
                <a:solidFill>
                  <a:srgbClr val="172026"/>
                </a:solidFill>
              </a:rPr>
              <a:t>Dependências gerenciadas com uv e Python 3.12+.</a:t>
            </a:r>
          </a:p>
        </p:txBody>
      </p:sp>
      <p:sp>
        <p:nvSpPr>
          <p:cNvPr id="10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F6AC040C-0C51-4794-A49D-5E70F7FA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055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260"/>
          </a:solidFill>
          <a:ln xmlns:a="http://schemas.openxmlformats.org/drawingml/2006/main" w="0">
            <a:solidFill>
              <a:srgbClr val="277260"/>
            </a:solidFill>
            <a:prstDash val="solid"/>
          </a:ln>
        </p:spPr>
      </p:sp>
      <p:sp>
        <p:nvSpPr>
          <p:cNvPr id="11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17BCF220-C5B9-41A1-BBC8-63B2AC63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305550"/>
            <a:ext cx="7639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2026"/>
                </a:solidFill>
              </a:defRPr>
            </a:pPr>
            <a:r>
              <a:rPr sz="1950">
                <a:solidFill>
                  <a:srgbClr val="172026"/>
                </a:solidFill>
              </a:rPr>
              <a:t>Ruff, pre-commit, nbstripout, pytest e coverage configurados.</a:t>
            </a:r>
          </a:p>
        </p:txBody>
      </p:sp>
      <p:sp>
        <p:nvSpPr>
          <p:cNvPr id="12" name="bullet-mark-0">
            <a:extLst xmlns:a="http://schemas.openxmlformats.org/drawingml/2006/main">
              <a:ext uri="{FF2B5EF4-FFF2-40B4-BE49-F238E27FC236}">
                <a16:creationId xmlns:a16="http://schemas.microsoft.com/office/drawing/2014/main" id="{8C729379-0A1B-4671-BF51-FEA27D4A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8006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A0"/>
          </a:solidFill>
          <a:ln xmlns:a="http://schemas.openxmlformats.org/drawingml/2006/main" w="0">
            <a:solidFill>
              <a:srgbClr val="356AA0"/>
            </a:solidFill>
            <a:prstDash val="solid"/>
          </a:ln>
        </p:spPr>
      </p:sp>
      <p:sp>
        <p:nvSpPr>
          <p:cNvPr id="13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8B309517-1704-481D-9D72-D753AAE8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00600"/>
            <a:ext cx="7639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2026"/>
                </a:solidFill>
              </a:defRPr>
            </a:pPr>
            <a:r>
              <a:rPr sz="1950">
                <a:solidFill>
                  <a:srgbClr val="172026"/>
                </a:solidFill>
              </a:rPr>
              <a:t>Notebooks separados por hipótese: reescrita, BERT local, detector pré-treinado, STDI e VAD.</a:t>
            </a:r>
          </a:p>
        </p:txBody>
      </p:sp>
      <p:sp>
        <p:nvSpPr>
          <p:cNvPr id="14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A9BFD274-C5BD-4198-8F9D-160D95BA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673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A0"/>
          </a:solidFill>
          <a:ln xmlns:a="http://schemas.openxmlformats.org/drawingml/2006/main" w="0">
            <a:solidFill>
              <a:srgbClr val="356AA0"/>
            </a:solidFill>
            <a:prstDash val="solid"/>
          </a:ln>
        </p:spPr>
      </p:sp>
      <p:sp>
        <p:nvSpPr>
          <p:cNvPr id="15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ACEAF766-AB40-4A29-9E28-0D6548AA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467350"/>
            <a:ext cx="7639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2026"/>
                </a:solidFill>
              </a:defRPr>
            </a:pPr>
            <a:r>
              <a:rPr sz="1950">
                <a:solidFill>
                  <a:srgbClr val="172026"/>
                </a:solidFill>
              </a:rPr>
              <a:t>Relatórios de execução em output/runs e output/execution_report.md.</a:t>
            </a:r>
          </a:p>
        </p:txBody>
      </p:sp>
      <p:sp>
        <p:nvSpPr>
          <p:cNvPr id="16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D84B7BAA-9A35-4B13-BBB4-207BA28A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886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A0"/>
          </a:solidFill>
          <a:ln xmlns:a="http://schemas.openxmlformats.org/drawingml/2006/main" w="0">
            <a:solidFill>
              <a:srgbClr val="356AA0"/>
            </a:solidFill>
            <a:prstDash val="solid"/>
          </a:ln>
        </p:spPr>
      </p:sp>
      <p:sp>
        <p:nvSpPr>
          <p:cNvPr id="17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FDF965BC-6766-4095-AD97-03F746E6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886450"/>
            <a:ext cx="7639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2026"/>
                </a:solidFill>
              </a:defRPr>
            </a:pPr>
            <a:r>
              <a:rPr sz="1950">
                <a:solidFill>
                  <a:srgbClr val="172026"/>
                </a:solidFill>
              </a:rPr>
              <a:t>Testes cobrindo datasets, LLM clients, retry/rate limit, VAD, STDI e UI do grafo.</a:t>
            </a:r>
          </a:p>
        </p:txBody>
      </p:sp>
      <p:sp>
        <p:nvSpPr>
          <p:cNvPr id="18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5E6B91C6-85B9-4CEB-B0A1-6AC03F0F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5532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A0"/>
          </a:solidFill>
          <a:ln xmlns:a="http://schemas.openxmlformats.org/drawingml/2006/main" w="0">
            <a:solidFill>
              <a:srgbClr val="356AA0"/>
            </a:solidFill>
            <a:prstDash val="solid"/>
          </a:ln>
        </p:spPr>
      </p:sp>
      <p:sp>
        <p:nvSpPr>
          <p:cNvPr id="19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2D4902FE-EBE4-47B2-93A2-B37E2CBC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53200"/>
            <a:ext cx="7639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2026"/>
                </a:solidFill>
              </a:defRPr>
            </a:pPr>
            <a:r>
              <a:rPr sz="1950">
                <a:solidFill>
                  <a:srgbClr val="172026"/>
                </a:solidFill>
              </a:rPr>
              <a:t>Persistência dos resultados da simulação em summary JSON e steps JSONL.</a:t>
            </a:r>
          </a:p>
        </p:txBody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519B4442-AA3D-4A72-AF33-BD5808CA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67850"/>
            <a:ext cx="16459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D8589"/>
                </a:solidFill>
              </a:defRPr>
            </a:pPr>
            <a:r>
              <a:rPr sz="1125">
                <a:solidFill>
                  <a:srgbClr val="7D8589"/>
                </a:solidFill>
              </a:rPr>
              <a:t>Fontes: README.md, pyproject.toml, Makefile e diretório tests/.</a:t>
            </a:r>
          </a:p>
        </p:txBody>
      </p:sp>
    </p:spTree>
    <p:extLst>
      <p:ext uri="{BB962C8B-B14F-4D97-AF65-F5344CB8AC3E}">
        <p14:creationId xmlns:p14="http://schemas.microsoft.com/office/powerpoint/2010/main" val="39617179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90578C6-E663-45AE-8986-4701DC93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74E73F-FC54-47EA-BD0D-8306DA9F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57340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026"/>
                </a:solidFill>
              </a:defRPr>
            </a:pPr>
            <a:r>
              <a:rPr sz="4350" b="1">
                <a:solidFill>
                  <a:srgbClr val="172026"/>
                </a:solidFill>
              </a:rPr>
              <a:t>Status e próximos passos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AC619ED-10A6-4CF3-97EC-EF05A359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10680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F6B72"/>
                </a:solidFill>
              </a:defRPr>
            </a:pPr>
            <a:r>
              <a:rPr sz="1875">
                <a:solidFill>
                  <a:srgbClr val="5F6B72"/>
                </a:solidFill>
              </a:rPr>
              <a:t>O projeto agora mede sinais de desinformação como drift interpretável, mas ainda precisa transformar o índice em evidência validada.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51AAE-B5D8-41D5-A3FD-8B73BC91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7886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77260"/>
                </a:solidFill>
              </a:defRPr>
            </a:pPr>
            <a:r>
              <a:rPr sz="3000" b="1">
                <a:solidFill>
                  <a:srgbClr val="277260"/>
                </a:solidFill>
              </a:rPr>
              <a:t>Já realizado</a:t>
            </a:r>
          </a:p>
        </p:txBody>
      </p:sp>
      <p:sp>
        <p:nvSpPr>
          <p:cNvPr id="5" name="bullet-mark-0">
            <a:extLst xmlns:a="http://schemas.openxmlformats.org/drawingml/2006/main">
              <a:ext uri="{FF2B5EF4-FFF2-40B4-BE49-F238E27FC236}">
                <a16:creationId xmlns:a16="http://schemas.microsoft.com/office/drawing/2014/main" id="{10576972-705B-4574-9115-6E3A353A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260"/>
          </a:solidFill>
          <a:ln xmlns:a="http://schemas.openxmlformats.org/drawingml/2006/main" w="0">
            <a:solidFill>
              <a:srgbClr val="277260"/>
            </a:solidFill>
            <a:prstDash val="solid"/>
          </a:ln>
        </p:spPr>
      </p:sp>
      <p:sp>
        <p:nvSpPr>
          <p:cNvPr id="6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C052D1D1-C8C0-4BDA-A515-AE8A5113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67350"/>
            <a:ext cx="7620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26"/>
                </a:solidFill>
              </a:defRPr>
            </a:pPr>
            <a:r>
              <a:rPr sz="1875">
                <a:solidFill>
                  <a:srgbClr val="172026"/>
                </a:solidFill>
              </a:rPr>
              <a:t>Pipeline de reescrita com múltiplos provedores.</a:t>
            </a:r>
          </a:p>
        </p:txBody>
      </p:sp>
      <p:sp>
        <p:nvSpPr>
          <p:cNvPr id="7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10F3D2F0-B578-4EC4-9922-8BFE96F5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260"/>
          </a:solidFill>
          <a:ln xmlns:a="http://schemas.openxmlformats.org/drawingml/2006/main" w="0">
            <a:solidFill>
              <a:srgbClr val="277260"/>
            </a:solidFill>
            <a:prstDash val="solid"/>
          </a:ln>
        </p:spPr>
      </p:sp>
      <p:sp>
        <p:nvSpPr>
          <p:cNvPr id="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5F282B99-54EB-4B97-99F5-4A5EFA7D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886450"/>
            <a:ext cx="7620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26"/>
                </a:solidFill>
              </a:defRPr>
            </a:pPr>
            <a:r>
              <a:rPr sz="1875">
                <a:solidFill>
                  <a:srgbClr val="172026"/>
                </a:solidFill>
              </a:rPr>
              <a:t>Avaliações com BERT local e detector pré-treinado.</a:t>
            </a:r>
          </a:p>
        </p:txBody>
      </p:sp>
      <p:sp>
        <p:nvSpPr>
          <p:cNvPr id="9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392CD597-C756-4281-9796-27BD5235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260"/>
          </a:solidFill>
          <a:ln xmlns:a="http://schemas.openxmlformats.org/drawingml/2006/main" w="0">
            <a:solidFill>
              <a:srgbClr val="277260"/>
            </a:solidFill>
            <a:prstDash val="solid"/>
          </a:ln>
        </p:spPr>
      </p:sp>
      <p:sp>
        <p:nvSpPr>
          <p:cNvPr id="1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45334FB0-8652-473A-B227-373AC137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286500"/>
            <a:ext cx="7620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26"/>
                </a:solidFill>
              </a:defRPr>
            </a:pPr>
            <a:r>
              <a:rPr sz="1875">
                <a:solidFill>
                  <a:srgbClr val="172026"/>
                </a:solidFill>
              </a:rPr>
              <a:t>STDI com componentes temáticos, relacionais, contraditórios e emocionais.</a:t>
            </a:r>
          </a:p>
        </p:txBody>
      </p:sp>
      <p:sp>
        <p:nvSpPr>
          <p:cNvPr id="11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C9760F52-5460-486D-B0FC-DAB13116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056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260"/>
          </a:solidFill>
          <a:ln xmlns:a="http://schemas.openxmlformats.org/drawingml/2006/main" w="0">
            <a:solidFill>
              <a:srgbClr val="277260"/>
            </a:solidFill>
            <a:prstDash val="solid"/>
          </a:ln>
        </p:spPr>
      </p:sp>
      <p:sp>
        <p:nvSpPr>
          <p:cNvPr id="12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698115AC-CFB3-4D35-ACAA-B536807F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705600"/>
            <a:ext cx="7620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26"/>
                </a:solidFill>
              </a:defRPr>
            </a:pPr>
            <a:r>
              <a:rPr sz="1875">
                <a:solidFill>
                  <a:srgbClr val="172026"/>
                </a:solidFill>
              </a:rPr>
              <a:t>Estudo VAD em base fake/true e interface visual de simulação.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E6A26-9E02-4C46-985D-17D5E4D7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72000"/>
            <a:ext cx="7886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B55345"/>
                </a:solidFill>
              </a:defRPr>
            </a:pPr>
            <a:r>
              <a:rPr sz="3000" b="1">
                <a:solidFill>
                  <a:srgbClr val="B55345"/>
                </a:solidFill>
              </a:rPr>
              <a:t>A consolidar</a:t>
            </a:r>
          </a:p>
        </p:txBody>
      </p:sp>
      <p:sp>
        <p:nvSpPr>
          <p:cNvPr id="14" name="bullet-mark-0">
            <a:extLst xmlns:a="http://schemas.openxmlformats.org/drawingml/2006/main">
              <a:ext uri="{FF2B5EF4-FFF2-40B4-BE49-F238E27FC236}">
                <a16:creationId xmlns:a16="http://schemas.microsoft.com/office/drawing/2014/main" id="{A0915659-8D13-426F-8CBD-80529687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1435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5345"/>
          </a:solidFill>
          <a:ln xmlns:a="http://schemas.openxmlformats.org/drawingml/2006/main" w="0">
            <a:solidFill>
              <a:srgbClr val="B55345"/>
            </a:solidFill>
            <a:prstDash val="solid"/>
          </a:ln>
        </p:spPr>
      </p:sp>
      <p:sp>
        <p:nvSpPr>
          <p:cNvPr id="15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DD1A93FC-B973-41B7-A5C7-BCF20E2B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143500"/>
            <a:ext cx="7620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26"/>
                </a:solidFill>
              </a:defRPr>
            </a:pPr>
            <a:r>
              <a:rPr sz="1875">
                <a:solidFill>
                  <a:srgbClr val="172026"/>
                </a:solidFill>
              </a:rPr>
              <a:t>Definir limiares interpretáveis para baixo, médio e alto drift.</a:t>
            </a:r>
          </a:p>
        </p:txBody>
      </p:sp>
      <p:sp>
        <p:nvSpPr>
          <p:cNvPr id="16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E15CE2EA-2FE8-40F0-84E2-42F24090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5626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5345"/>
          </a:solidFill>
          <a:ln xmlns:a="http://schemas.openxmlformats.org/drawingml/2006/main" w="0">
            <a:solidFill>
              <a:srgbClr val="B55345"/>
            </a:solidFill>
            <a:prstDash val="solid"/>
          </a:ln>
        </p:spPr>
      </p:sp>
      <p:sp>
        <p:nvSpPr>
          <p:cNvPr id="17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446EA2A4-79D4-40A5-BEBB-F59B4700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562600"/>
            <a:ext cx="7620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26"/>
                </a:solidFill>
              </a:defRPr>
            </a:pPr>
            <a:r>
              <a:rPr sz="1875">
                <a:solidFill>
                  <a:srgbClr val="172026"/>
                </a:solidFill>
              </a:rPr>
              <a:t>Calibrar melhor os pesos do STDI, incluindo o peso relativo do VAD.</a:t>
            </a:r>
          </a:p>
        </p:txBody>
      </p:sp>
      <p:sp>
        <p:nvSpPr>
          <p:cNvPr id="18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0C393AE0-8132-4A60-8480-F8D12B03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9626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5345"/>
          </a:solidFill>
          <a:ln xmlns:a="http://schemas.openxmlformats.org/drawingml/2006/main" w="0">
            <a:solidFill>
              <a:srgbClr val="B55345"/>
            </a:solidFill>
            <a:prstDash val="solid"/>
          </a:ln>
        </p:spPr>
      </p:sp>
      <p:sp>
        <p:nvSpPr>
          <p:cNvPr id="19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D32504D8-CBAE-4213-9E99-7905D85E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962650"/>
            <a:ext cx="7620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26"/>
                </a:solidFill>
              </a:defRPr>
            </a:pPr>
            <a:r>
              <a:rPr sz="1875">
                <a:solidFill>
                  <a:srgbClr val="172026"/>
                </a:solidFill>
              </a:rPr>
              <a:t>Rodar amostras maiores e comparar por modelo/personalidade.</a:t>
            </a:r>
          </a:p>
        </p:txBody>
      </p:sp>
      <p:sp>
        <p:nvSpPr>
          <p:cNvPr id="20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43D5E950-8F9A-4917-BA95-273628A2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3817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5345"/>
          </a:solidFill>
          <a:ln xmlns:a="http://schemas.openxmlformats.org/drawingml/2006/main" w="0">
            <a:solidFill>
              <a:srgbClr val="B55345"/>
            </a:solidFill>
            <a:prstDash val="solid"/>
          </a:ln>
        </p:spPr>
      </p:sp>
      <p:sp>
        <p:nvSpPr>
          <p:cNvPr id="21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6F235D34-BF00-48C3-BFCD-35786A05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81750"/>
            <a:ext cx="7620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26"/>
                </a:solidFill>
              </a:defRPr>
            </a:pPr>
            <a:r>
              <a:rPr sz="1875">
                <a:solidFill>
                  <a:srgbClr val="172026"/>
                </a:solidFill>
              </a:rPr>
              <a:t>Validar STDI contra anotação humana ou casos sintéticos controlados.</a:t>
            </a:r>
          </a:p>
        </p:txBody>
      </p:sp>
      <p:sp>
        <p:nvSpPr>
          <p:cNvPr id="22" name="bullet-mark-4">
            <a:extLst xmlns:a="http://schemas.openxmlformats.org/drawingml/2006/main">
              <a:ext uri="{FF2B5EF4-FFF2-40B4-BE49-F238E27FC236}">
                <a16:creationId xmlns:a16="http://schemas.microsoft.com/office/drawing/2014/main" id="{CF2C8D88-F968-43EE-ACE8-9989F000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7818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5345"/>
          </a:solidFill>
          <a:ln xmlns:a="http://schemas.openxmlformats.org/drawingml/2006/main" w="0">
            <a:solidFill>
              <a:srgbClr val="B55345"/>
            </a:solidFill>
            <a:prstDash val="solid"/>
          </a:ln>
        </p:spPr>
      </p:sp>
      <p:sp>
        <p:nvSpPr>
          <p:cNvPr id="23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87BEC780-83C4-447E-9DCC-30CD542E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781800"/>
            <a:ext cx="7620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26"/>
                </a:solidFill>
              </a:defRPr>
            </a:pPr>
            <a:r>
              <a:rPr sz="1875">
                <a:solidFill>
                  <a:srgbClr val="172026"/>
                </a:solidFill>
              </a:rPr>
              <a:t>Aprimorar visualizações da UI para evolução temporal e comparação entre cadeias.</a:t>
            </a:r>
          </a:p>
        </p:txBody>
      </p:sp>
      <p:sp>
        <p:nvSpPr>
          <p:cNvPr id="24" name="footer">
            <a:extLst xmlns:a="http://schemas.openxmlformats.org/drawingml/2006/main">
              <a:ext uri="{FF2B5EF4-FFF2-40B4-BE49-F238E27FC236}">
                <a16:creationId xmlns:a16="http://schemas.microsoft.com/office/drawing/2014/main" id="{5BD09FC7-BC97-4F39-9F72-A144EA92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67850"/>
            <a:ext cx="16459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D8589"/>
                </a:solidFill>
              </a:defRPr>
            </a:pPr>
            <a:r>
              <a:rPr sz="1125">
                <a:solidFill>
                  <a:srgbClr val="7D8589"/>
                </a:solidFill>
              </a:rPr>
              <a:t>Projeto TCC - Simulação de desinformação com LLMs</a:t>
            </a:r>
          </a:p>
        </p:txBody>
      </p:sp>
    </p:spTree>
    <p:extLst>
      <p:ext uri="{BB962C8B-B14F-4D97-AF65-F5344CB8AC3E}">
        <p14:creationId xmlns:p14="http://schemas.microsoft.com/office/powerpoint/2010/main" val="17140454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2026-05-15T00:06:29.3520000Z</dcterms:created>
  <dcterms:modified xsi:type="dcterms:W3CDTF">2026-05-15T00:06:29.3520000Z</dcterms:modified>
</coreProperties>
</file>